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14_30F0CF03.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7" r:id="rId4"/>
  </p:sldMasterIdLst>
  <p:notesMasterIdLst>
    <p:notesMasterId r:id="rId15"/>
  </p:notesMasterIdLst>
  <p:handoutMasterIdLst>
    <p:handoutMasterId r:id="rId16"/>
  </p:handoutMasterIdLst>
  <p:sldIdLst>
    <p:sldId id="289" r:id="rId5"/>
    <p:sldId id="288" r:id="rId6"/>
    <p:sldId id="276" r:id="rId7"/>
    <p:sldId id="261" r:id="rId8"/>
    <p:sldId id="264" r:id="rId9"/>
    <p:sldId id="265" r:id="rId10"/>
    <p:sldId id="268" r:id="rId11"/>
    <p:sldId id="263" r:id="rId12"/>
    <p:sldId id="266" r:id="rId13"/>
    <p:sldId id="26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E91BE9C4-ED8F-A471-0293-43B9E39372FA}" name="D Rob" initials="DR" userId="69285ff025df72f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879" autoAdjust="0"/>
  </p:normalViewPr>
  <p:slideViewPr>
    <p:cSldViewPr snapToGrid="0">
      <p:cViewPr varScale="1">
        <p:scale>
          <a:sx n="60" d="100"/>
          <a:sy n="60" d="100"/>
        </p:scale>
        <p:origin x="96" y="57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omments/modernComment_114_30F0CF03.xml><?xml version="1.0" encoding="utf-8"?>
<p188:cmLst xmlns:a="http://schemas.openxmlformats.org/drawingml/2006/main" xmlns:r="http://schemas.openxmlformats.org/officeDocument/2006/relationships" xmlns:p188="http://schemas.microsoft.com/office/powerpoint/2018/8/main">
  <p188:cm id="{77F19035-4605-433B-8598-7259830AE5EB}" authorId="{E91BE9C4-ED8F-A471-0293-43B9E39372FA}" created="2025-10-20T02:19:26.896">
    <pc:sldMkLst xmlns:pc="http://schemas.microsoft.com/office/powerpoint/2013/main/command">
      <pc:docMk/>
      <pc:sldMk cId="821088003" sldId="276"/>
    </pc:sldMkLst>
    <p188:txBody>
      <a:bodyPr/>
      <a:lstStyle/>
      <a:p>
        <a:r>
          <a:rPr lang="en-US"/>
          <a:t>CYB 400 Project 2 Submission</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10/19/2025</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B16356-3B28-4AAF-8099-7941810E2475}" type="datetimeFigureOut">
              <a:rPr lang="en-US" smtClean="0"/>
              <a:t>10/19/2025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5DA344-5FA2-43F7-9D95-CA56C82B080A}" type="slidenum">
              <a:rPr lang="en-US" smtClean="0"/>
              <a:t>‹#›</a:t>
            </a:fld>
            <a:endParaRPr lang="en-US"/>
          </a:p>
        </p:txBody>
      </p:sp>
    </p:spTree>
    <p:extLst>
      <p:ext uri="{BB962C8B-B14F-4D97-AF65-F5344CB8AC3E}">
        <p14:creationId xmlns:p14="http://schemas.microsoft.com/office/powerpoint/2010/main" val="1255762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a:t>
            </a:fld>
            <a:endParaRPr lang="en-US"/>
          </a:p>
        </p:txBody>
      </p:sp>
    </p:spTree>
    <p:extLst>
      <p:ext uri="{BB962C8B-B14F-4D97-AF65-F5344CB8AC3E}">
        <p14:creationId xmlns:p14="http://schemas.microsoft.com/office/powerpoint/2010/main" val="6954445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Today, I’ll provide an overview of the cybersecurity review we performed on </a:t>
            </a:r>
            <a:r>
              <a:rPr lang="en-US" dirty="0" err="1"/>
              <a:t>BrainMeld</a:t>
            </a:r>
            <a:r>
              <a:rPr lang="en-US" dirty="0"/>
              <a:t> following its acquisition. I’ll summarize the most critical risks, explain how they could impact our business, and outline the immediate actions we recommend to protect both operations and sensitive information.</a:t>
            </a:r>
          </a:p>
        </p:txBody>
      </p:sp>
      <p:sp>
        <p:nvSpPr>
          <p:cNvPr id="4" name="Slide Number Placeholder 3"/>
          <p:cNvSpPr>
            <a:spLocks noGrp="1"/>
          </p:cNvSpPr>
          <p:nvPr>
            <p:ph type="sldNum" sz="quarter" idx="5"/>
          </p:nvPr>
        </p:nvSpPr>
        <p:spPr/>
        <p:txBody>
          <a:bodyPr/>
          <a:lstStyle/>
          <a:p>
            <a:fld id="{CC5DA344-5FA2-43F7-9D95-CA56C82B080A}" type="slidenum">
              <a:rPr lang="en-US" smtClean="0"/>
              <a:t>2</a:t>
            </a:fld>
            <a:endParaRPr lang="en-US"/>
          </a:p>
        </p:txBody>
      </p:sp>
    </p:spTree>
    <p:extLst>
      <p:ext uri="{BB962C8B-B14F-4D97-AF65-F5344CB8AC3E}">
        <p14:creationId xmlns:p14="http://schemas.microsoft.com/office/powerpoint/2010/main" val="37276347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cybersecurity review focused on spotting weaknesses that could affect operations, data security, or company reputation. The aim is to provide clear, actionable steps that quickly lower risk, ensure compliance, and safeguard both company and customer information.</a:t>
            </a:r>
          </a:p>
        </p:txBody>
      </p:sp>
      <p:sp>
        <p:nvSpPr>
          <p:cNvPr id="4" name="Slide Number Placeholder 3"/>
          <p:cNvSpPr>
            <a:spLocks noGrp="1"/>
          </p:cNvSpPr>
          <p:nvPr>
            <p:ph type="sldNum" sz="quarter" idx="5"/>
          </p:nvPr>
        </p:nvSpPr>
        <p:spPr/>
        <p:txBody>
          <a:bodyPr/>
          <a:lstStyle/>
          <a:p>
            <a:fld id="{CC5DA344-5FA2-43F7-9D95-CA56C82B080A}" type="slidenum">
              <a:rPr lang="en-US" smtClean="0"/>
              <a:t>3</a:t>
            </a:fld>
            <a:endParaRPr lang="en-US"/>
          </a:p>
        </p:txBody>
      </p:sp>
    </p:spTree>
    <p:extLst>
      <p:ext uri="{BB962C8B-B14F-4D97-AF65-F5344CB8AC3E}">
        <p14:creationId xmlns:p14="http://schemas.microsoft.com/office/powerpoint/2010/main" val="12330452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review showed that several systems are outdated or missing updates, and some hardware is no longer supported. These gaps create easy entry points for attackers. Addressing these issues first provides the fastest way to improve overall security while minimizing operational interruptions.</a:t>
            </a:r>
          </a:p>
        </p:txBody>
      </p:sp>
      <p:sp>
        <p:nvSpPr>
          <p:cNvPr id="4" name="Slide Number Placeholder 3"/>
          <p:cNvSpPr>
            <a:spLocks noGrp="1"/>
          </p:cNvSpPr>
          <p:nvPr>
            <p:ph type="sldNum" sz="quarter" idx="5"/>
          </p:nvPr>
        </p:nvSpPr>
        <p:spPr/>
        <p:txBody>
          <a:bodyPr/>
          <a:lstStyle/>
          <a:p>
            <a:fld id="{CC5DA344-5FA2-43F7-9D95-CA56C82B080A}" type="slidenum">
              <a:rPr lang="en-US" smtClean="0"/>
              <a:t>4</a:t>
            </a:fld>
            <a:endParaRPr lang="en-US"/>
          </a:p>
        </p:txBody>
      </p:sp>
    </p:spTree>
    <p:extLst>
      <p:ext uri="{BB962C8B-B14F-4D97-AF65-F5344CB8AC3E}">
        <p14:creationId xmlns:p14="http://schemas.microsoft.com/office/powerpoint/2010/main" val="3988440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identified weaknesses in internal policies and access controls. Poor passwords, missing multi-factor authentication, and excess permissions increase the risk of unauthorized access. Updating policies, enabling MFA, and providing staff training will strengthen security and reduce these risks.</a:t>
            </a:r>
          </a:p>
        </p:txBody>
      </p:sp>
      <p:sp>
        <p:nvSpPr>
          <p:cNvPr id="4" name="Slide Number Placeholder 3"/>
          <p:cNvSpPr>
            <a:spLocks noGrp="1"/>
          </p:cNvSpPr>
          <p:nvPr>
            <p:ph type="sldNum" sz="quarter" idx="5"/>
          </p:nvPr>
        </p:nvSpPr>
        <p:spPr/>
        <p:txBody>
          <a:bodyPr/>
          <a:lstStyle/>
          <a:p>
            <a:fld id="{CC5DA344-5FA2-43F7-9D95-CA56C82B080A}" type="slidenum">
              <a:rPr lang="en-US" smtClean="0"/>
              <a:t>5</a:t>
            </a:fld>
            <a:endParaRPr lang="en-US"/>
          </a:p>
        </p:txBody>
      </p:sp>
    </p:spTree>
    <p:extLst>
      <p:ext uri="{BB962C8B-B14F-4D97-AF65-F5344CB8AC3E}">
        <p14:creationId xmlns:p14="http://schemas.microsoft.com/office/powerpoint/2010/main" val="1495799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additional issues stood out. First, some internal applications still rely on older TLS protocols, which can be exploited. Second, orphaned user accounts remain active, creating opportunities for misuse. Updating TLS configurations and implementing strict offboarding processes will address these vulnerabilities.</a:t>
            </a:r>
          </a:p>
        </p:txBody>
      </p:sp>
      <p:sp>
        <p:nvSpPr>
          <p:cNvPr id="4" name="Slide Number Placeholder 3"/>
          <p:cNvSpPr>
            <a:spLocks noGrp="1"/>
          </p:cNvSpPr>
          <p:nvPr>
            <p:ph type="sldNum" sz="quarter" idx="5"/>
          </p:nvPr>
        </p:nvSpPr>
        <p:spPr/>
        <p:txBody>
          <a:bodyPr/>
          <a:lstStyle/>
          <a:p>
            <a:fld id="{CC5DA344-5FA2-43F7-9D95-CA56C82B080A}" type="slidenum">
              <a:rPr lang="en-US" smtClean="0"/>
              <a:t>6</a:t>
            </a:fld>
            <a:endParaRPr lang="en-US"/>
          </a:p>
        </p:txBody>
      </p:sp>
    </p:spTree>
    <p:extLst>
      <p:ext uri="{BB962C8B-B14F-4D97-AF65-F5344CB8AC3E}">
        <p14:creationId xmlns:p14="http://schemas.microsoft.com/office/powerpoint/2010/main" val="15887698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reduce risk efficiently, we recommend starting with patching and updating all systems. Next, focus on policy updates, including stronger passwords, MFA, and reviewing access permissions. Finally, address outdated protocols and remove orphaned accounts. Following this order provides the quickest and most effective improvement to security.</a:t>
            </a:r>
          </a:p>
        </p:txBody>
      </p:sp>
      <p:sp>
        <p:nvSpPr>
          <p:cNvPr id="4" name="Slide Number Placeholder 3"/>
          <p:cNvSpPr>
            <a:spLocks noGrp="1"/>
          </p:cNvSpPr>
          <p:nvPr>
            <p:ph type="sldNum" sz="quarter" idx="5"/>
          </p:nvPr>
        </p:nvSpPr>
        <p:spPr/>
        <p:txBody>
          <a:bodyPr/>
          <a:lstStyle/>
          <a:p>
            <a:fld id="{CC5DA344-5FA2-43F7-9D95-CA56C82B080A}" type="slidenum">
              <a:rPr lang="en-US" smtClean="0"/>
              <a:t>7</a:t>
            </a:fld>
            <a:endParaRPr lang="en-US"/>
          </a:p>
        </p:txBody>
      </p:sp>
    </p:spTree>
    <p:extLst>
      <p:ext uri="{BB962C8B-B14F-4D97-AF65-F5344CB8AC3E}">
        <p14:creationId xmlns:p14="http://schemas.microsoft.com/office/powerpoint/2010/main" val="7112980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vulnerabilities are not just technical, they have real business implications. Addressing them reduces the chance of cyberattacks, safeguards data, and maintains trust with customers and employees. Taking these steps ensures </a:t>
            </a:r>
            <a:r>
              <a:rPr lang="en-US" dirty="0" err="1"/>
              <a:t>BrainMeld’s</a:t>
            </a:r>
            <a:r>
              <a:rPr lang="en-US" dirty="0"/>
              <a:t> systems remain reliable, secure, and compliant with standards.</a:t>
            </a:r>
          </a:p>
        </p:txBody>
      </p:sp>
      <p:sp>
        <p:nvSpPr>
          <p:cNvPr id="4" name="Slide Number Placeholder 3"/>
          <p:cNvSpPr>
            <a:spLocks noGrp="1"/>
          </p:cNvSpPr>
          <p:nvPr>
            <p:ph type="sldNum" sz="quarter" idx="5"/>
          </p:nvPr>
        </p:nvSpPr>
        <p:spPr/>
        <p:txBody>
          <a:bodyPr/>
          <a:lstStyle/>
          <a:p>
            <a:fld id="{CC5DA344-5FA2-43F7-9D95-CA56C82B080A}" type="slidenum">
              <a:rPr lang="en-US" smtClean="0"/>
              <a:t>8</a:t>
            </a:fld>
            <a:endParaRPr lang="en-US"/>
          </a:p>
        </p:txBody>
      </p:sp>
    </p:spTree>
    <p:extLst>
      <p:ext uri="{BB962C8B-B14F-4D97-AF65-F5344CB8AC3E}">
        <p14:creationId xmlns:p14="http://schemas.microsoft.com/office/powerpoint/2010/main" val="2065083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structured approach, updating systems, enforcing policies, and managing user accounts, will significantly improve </a:t>
            </a:r>
            <a:r>
              <a:rPr lang="en-US" dirty="0" err="1"/>
              <a:t>BrainMeld’s</a:t>
            </a:r>
            <a:r>
              <a:rPr lang="en-US" dirty="0"/>
              <a:t> cybersecurity. These actions reduce risk, protect critical data, and position Grey Matter for safe and efficient operations following the acquisition.</a:t>
            </a:r>
          </a:p>
        </p:txBody>
      </p:sp>
      <p:sp>
        <p:nvSpPr>
          <p:cNvPr id="4" name="Slide Number Placeholder 3"/>
          <p:cNvSpPr>
            <a:spLocks noGrp="1"/>
          </p:cNvSpPr>
          <p:nvPr>
            <p:ph type="sldNum" sz="quarter" idx="5"/>
          </p:nvPr>
        </p:nvSpPr>
        <p:spPr/>
        <p:txBody>
          <a:bodyPr/>
          <a:lstStyle/>
          <a:p>
            <a:fld id="{CC5DA344-5FA2-43F7-9D95-CA56C82B080A}" type="slidenum">
              <a:rPr lang="en-US" smtClean="0"/>
              <a:t>9</a:t>
            </a:fld>
            <a:endParaRPr lang="en-US"/>
          </a:p>
        </p:txBody>
      </p:sp>
    </p:spTree>
    <p:extLst>
      <p:ext uri="{BB962C8B-B14F-4D97-AF65-F5344CB8AC3E}">
        <p14:creationId xmlns:p14="http://schemas.microsoft.com/office/powerpoint/2010/main" val="2729973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C5DA344-5FA2-43F7-9D95-CA56C82B080A}" type="slidenum">
              <a:rPr lang="en-US" smtClean="0"/>
              <a:t>10</a:t>
            </a:fld>
            <a:endParaRPr lang="en-US"/>
          </a:p>
        </p:txBody>
      </p:sp>
    </p:spTree>
    <p:extLst>
      <p:ext uri="{BB962C8B-B14F-4D97-AF65-F5344CB8AC3E}">
        <p14:creationId xmlns:p14="http://schemas.microsoft.com/office/powerpoint/2010/main" val="29744152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B0DB3-A8FF-4ABB-9E2E-D960422260EB}"/>
              </a:ext>
            </a:extLst>
          </p:cNvPr>
          <p:cNvSpPr>
            <a:spLocks noGrp="1"/>
          </p:cNvSpPr>
          <p:nvPr>
            <p:ph type="ctrTitle"/>
          </p:nvPr>
        </p:nvSpPr>
        <p:spPr>
          <a:xfrm>
            <a:off x="1524000" y="1122363"/>
            <a:ext cx="9144000" cy="3025308"/>
          </a:xfrm>
        </p:spPr>
        <p:txBody>
          <a:bodyPr anchor="b">
            <a:normAutofit/>
          </a:bodyPr>
          <a:lstStyle>
            <a:lvl1pPr algn="ctr">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BEE0618-75D7-410F-859C-CDF53BC53E85}"/>
              </a:ext>
            </a:extLst>
          </p:cNvPr>
          <p:cNvSpPr>
            <a:spLocks noGrp="1"/>
          </p:cNvSpPr>
          <p:nvPr>
            <p:ph type="subTitle" idx="1"/>
          </p:nvPr>
        </p:nvSpPr>
        <p:spPr>
          <a:xfrm>
            <a:off x="1524000" y="4386729"/>
            <a:ext cx="9144000" cy="1135529"/>
          </a:xfrm>
        </p:spPr>
        <p:txBody>
          <a:bodyPr>
            <a:normAutofit/>
          </a:bodyPr>
          <a:lstStyle>
            <a:lvl1pPr marL="0" indent="0" algn="ctr">
              <a:lnSpc>
                <a:spcPct val="12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A5237F11-76DB-4DD9-9747-3F38D05BA0FE}"/>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5" name="Footer Placeholder 4">
            <a:extLst>
              <a:ext uri="{FF2B5EF4-FFF2-40B4-BE49-F238E27FC236}">
                <a16:creationId xmlns:a16="http://schemas.microsoft.com/office/drawing/2014/main" id="{3059F581-81B0-44B3-ABA5-A25CA4BAE4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10D591-ADCF-4300-8282-72AE357F3D2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41156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75558-A264-444E-829B-51AAE6B4BFCE}"/>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08D9373-37D1-4135-8D34-755E139F79DD}"/>
              </a:ext>
            </a:extLst>
          </p:cNvPr>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55E4A6B-1966-4E57-9FB8-8B111E97BC11}"/>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5" name="Footer Placeholder 4">
            <a:extLst>
              <a:ext uri="{FF2B5EF4-FFF2-40B4-BE49-F238E27FC236}">
                <a16:creationId xmlns:a16="http://schemas.microsoft.com/office/drawing/2014/main" id="{133FC3DD-F2BE-41FF-895B-00129AAB15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1F830C-8424-4FAF-A011-605AE1D147FC}"/>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67895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A1BE8-ECC1-4027-B16E-C7BECCA9DF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6C7E1-471A-46AA-8068-98E68C0C20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7C9F8F-EC48-4D16-B4C6-023A7B607BE6}"/>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5" name="Footer Placeholder 4">
            <a:extLst>
              <a:ext uri="{FF2B5EF4-FFF2-40B4-BE49-F238E27FC236}">
                <a16:creationId xmlns:a16="http://schemas.microsoft.com/office/drawing/2014/main" id="{B79FA5B3-F726-417B-932A-B93E0C8F5A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7D21F1-1A24-43EA-AB09-3024C491E8FB}"/>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535638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16569-B648-4D50-BEB8-E8DAE24D68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0831B3-A1FD-470C-BEEE-4CFB441502DD}"/>
              </a:ext>
            </a:extLst>
          </p:cNvPr>
          <p:cNvSpPr>
            <a:spLocks noGrp="1"/>
          </p:cNvSpPr>
          <p:nvPr>
            <p:ph sz="half" idx="1"/>
          </p:nvPr>
        </p:nvSpPr>
        <p:spPr>
          <a:xfrm>
            <a:off x="838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1F34A17-C244-438C-9AE3-FB9B3CE3BD8F}"/>
              </a:ext>
            </a:extLst>
          </p:cNvPr>
          <p:cNvSpPr>
            <a:spLocks noGrp="1"/>
          </p:cNvSpPr>
          <p:nvPr>
            <p:ph sz="half" idx="2"/>
          </p:nvPr>
        </p:nvSpPr>
        <p:spPr>
          <a:xfrm>
            <a:off x="6172200" y="1924493"/>
            <a:ext cx="5181600" cy="42524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CFA3AA-3FC1-4B98-8F99-1726F1AC0A38}"/>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6" name="Footer Placeholder 5">
            <a:extLst>
              <a:ext uri="{FF2B5EF4-FFF2-40B4-BE49-F238E27FC236}">
                <a16:creationId xmlns:a16="http://schemas.microsoft.com/office/drawing/2014/main" id="{1CE10883-BACC-41A1-9067-ECFDB937D7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7660A2-13C9-4432-A6EB-A4FF3D78F15F}"/>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08121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97C843-C993-4E9C-80DD-3620816E56A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D91A8E3-B066-4511-9C6E-A3435B64DD88}"/>
              </a:ext>
            </a:extLst>
          </p:cNvPr>
          <p:cNvSpPr>
            <a:spLocks noGrp="1"/>
          </p:cNvSpPr>
          <p:nvPr>
            <p:ph type="body" idx="1"/>
          </p:nvPr>
        </p:nvSpPr>
        <p:spPr>
          <a:xfrm>
            <a:off x="839788" y="1734325"/>
            <a:ext cx="5157787"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E86B63-4102-4802-94D7-F138F80F3E19}"/>
              </a:ext>
            </a:extLst>
          </p:cNvPr>
          <p:cNvSpPr>
            <a:spLocks noGrp="1"/>
          </p:cNvSpPr>
          <p:nvPr>
            <p:ph sz="half" idx="2"/>
          </p:nvPr>
        </p:nvSpPr>
        <p:spPr>
          <a:xfrm>
            <a:off x="839788" y="2558237"/>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9C924765-08A7-4A60-86DC-DC420F60BBAE}"/>
              </a:ext>
            </a:extLst>
          </p:cNvPr>
          <p:cNvSpPr>
            <a:spLocks noGrp="1"/>
          </p:cNvSpPr>
          <p:nvPr>
            <p:ph type="body" sz="quarter" idx="3"/>
          </p:nvPr>
        </p:nvSpPr>
        <p:spPr>
          <a:xfrm>
            <a:off x="6172200" y="1734325"/>
            <a:ext cx="5183188" cy="823912"/>
          </a:xfrm>
        </p:spPr>
        <p:txBody>
          <a:bodyPr anchor="b">
            <a:normAutofit/>
          </a:bodyPr>
          <a:lstStyle>
            <a:lvl1pPr marL="0" indent="0">
              <a:buNone/>
              <a:defRPr sz="20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4AA2795-EFB6-4000-8F25-FBB62646C0CD}"/>
              </a:ext>
            </a:extLst>
          </p:cNvPr>
          <p:cNvSpPr>
            <a:spLocks noGrp="1"/>
          </p:cNvSpPr>
          <p:nvPr>
            <p:ph sz="quarter" idx="4"/>
          </p:nvPr>
        </p:nvSpPr>
        <p:spPr>
          <a:xfrm>
            <a:off x="6172200" y="2558237"/>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942CFB-FE12-494A-9C41-3CB90F07BDAA}"/>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8" name="Footer Placeholder 7">
            <a:extLst>
              <a:ext uri="{FF2B5EF4-FFF2-40B4-BE49-F238E27FC236}">
                <a16:creationId xmlns:a16="http://schemas.microsoft.com/office/drawing/2014/main" id="{6C3A07E3-59E1-4EBD-9687-4B6ABE96AC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F7BB23-7539-4674-8B66-ACEFF94686C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877208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841DB-C73C-4968-B434-A6AA14DAF6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08152BF-92C7-4BF5-A9DB-16A0BF0F5F5D}"/>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4" name="Footer Placeholder 3">
            <a:extLst>
              <a:ext uri="{FF2B5EF4-FFF2-40B4-BE49-F238E27FC236}">
                <a16:creationId xmlns:a16="http://schemas.microsoft.com/office/drawing/2014/main" id="{C1289DB7-F492-4037-A439-D70F7E55652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FA96F1-8B8A-4E83-B3C2-E10DE522AD30}"/>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0498264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031033-9688-463F-9614-47F2F5BC6BF7}"/>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3" name="Footer Placeholder 2">
            <a:extLst>
              <a:ext uri="{FF2B5EF4-FFF2-40B4-BE49-F238E27FC236}">
                <a16:creationId xmlns:a16="http://schemas.microsoft.com/office/drawing/2014/main" id="{085B8DB2-C14B-45AC-ACAF-8702DF59C6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01DA57-8D4E-4075-9460-4F03DF8AABA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7628312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CBE2C-9DAA-489D-AC88-15CBBA8A9B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E124BE-E494-445A-A4FB-A2A8F28F0C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F2446DE-9A32-4774-9F7C-86678CA90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00115D-61B3-46D0-B4D3-30C374B526CF}"/>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6" name="Footer Placeholder 5">
            <a:extLst>
              <a:ext uri="{FF2B5EF4-FFF2-40B4-BE49-F238E27FC236}">
                <a16:creationId xmlns:a16="http://schemas.microsoft.com/office/drawing/2014/main" id="{EF3C2AFC-D0F8-469F-B1E0-123C2E066EC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B9BCDA-9EF7-4531-8021-AF7B30751516}"/>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1998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AE558-F89F-4688-94E5-77F37D49F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BCD35AF-8CA2-49BB-BAE9-F29A0186EC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05CAA98-55BD-4118-A8AF-D603060784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BFF4C5-82A8-4AD8-B7E2-2882F657683C}"/>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6" name="Footer Placeholder 5">
            <a:extLst>
              <a:ext uri="{FF2B5EF4-FFF2-40B4-BE49-F238E27FC236}">
                <a16:creationId xmlns:a16="http://schemas.microsoft.com/office/drawing/2014/main" id="{3860B401-B64F-417B-8AD6-581A22E5E0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24BD4C-7149-44BF-8150-F72CAA95A56D}"/>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979663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E5C77-55F8-4677-A96C-E6D3F5545D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A064EF-ADDA-4943-8F87-A7469D7997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B0D493-D1E7-4358-95E9-B5B80A49E603}"/>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5" name="Footer Placeholder 4">
            <a:extLst>
              <a:ext uri="{FF2B5EF4-FFF2-40B4-BE49-F238E27FC236}">
                <a16:creationId xmlns:a16="http://schemas.microsoft.com/office/drawing/2014/main" id="{A6E98326-3276-4B9E-960F-10C6677BF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4C3AC2-288D-4FEE-BF80-0EAEDDFAB049}"/>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618958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333C6A-5417-40BD-BF7A-94058322377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3BCB45-B343-46F6-9718-AA0D68CED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DA2A4-FD34-4E17-908F-4367B1E644C3}"/>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5" name="Footer Placeholder 4">
            <a:extLst>
              <a:ext uri="{FF2B5EF4-FFF2-40B4-BE49-F238E27FC236}">
                <a16:creationId xmlns:a16="http://schemas.microsoft.com/office/drawing/2014/main" id="{93B87AE3-776D-451D-AA52-C06B747248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A0C4D5-BE1E-4D6A-9196-E0F9E42B2E1E}"/>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472214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4AAEB19-4B49-2801-9B15-7682CDF04C04}"/>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D23C3EC-28B3-4644-8BE5-3288734B4639}"/>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857468" y="486137"/>
            <a:ext cx="5427584" cy="3599727"/>
          </a:xfrm>
        </p:spPr>
        <p:txBody>
          <a:bodyPr anchor="b" anchorCtr="0">
            <a:noAutofit/>
          </a:bodyPr>
          <a:lstStyle>
            <a:lvl1pPr algn="l">
              <a:defRPr sz="4400" cap="all" baseline="0">
                <a:solidFill>
                  <a:schemeClr val="accent1"/>
                </a:solidFill>
              </a:defRPr>
            </a:lvl1pPr>
          </a:lstStyle>
          <a:p>
            <a:r>
              <a:rPr lang="en-US" dirty="0"/>
              <a:t>Click to add title</a:t>
            </a:r>
          </a:p>
        </p:txBody>
      </p:sp>
      <p:sp>
        <p:nvSpPr>
          <p:cNvPr id="13" name="Picture Placeholder 12">
            <a:extLst>
              <a:ext uri="{FF2B5EF4-FFF2-40B4-BE49-F238E27FC236}">
                <a16:creationId xmlns:a16="http://schemas.microsoft.com/office/drawing/2014/main" id="{B64FCBF4-90E6-FFAA-143D-3A01CE52569B}"/>
              </a:ext>
            </a:extLst>
          </p:cNvPr>
          <p:cNvSpPr>
            <a:spLocks noGrp="1"/>
          </p:cNvSpPr>
          <p:nvPr>
            <p:ph type="pic" sz="quarter" idx="10"/>
          </p:nvPr>
        </p:nvSpPr>
        <p:spPr>
          <a:xfrm>
            <a:off x="5624774" y="-6713"/>
            <a:ext cx="6578801" cy="6894576"/>
          </a:xfrm>
          <a:custGeom>
            <a:avLst/>
            <a:gdLst>
              <a:gd name="connsiteX0" fmla="*/ 0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0 w 6613525"/>
              <a:gd name="connsiteY4" fmla="*/ 0 h 6858000"/>
              <a:gd name="connsiteX0" fmla="*/ 1875099 w 6613525"/>
              <a:gd name="connsiteY0" fmla="*/ 0 h 6858000"/>
              <a:gd name="connsiteX1" fmla="*/ 6613525 w 6613525"/>
              <a:gd name="connsiteY1" fmla="*/ 0 h 6858000"/>
              <a:gd name="connsiteX2" fmla="*/ 6613525 w 6613525"/>
              <a:gd name="connsiteY2" fmla="*/ 6858000 h 6858000"/>
              <a:gd name="connsiteX3" fmla="*/ 0 w 6613525"/>
              <a:gd name="connsiteY3" fmla="*/ 6858000 h 6858000"/>
              <a:gd name="connsiteX4" fmla="*/ 1875099 w 6613525"/>
              <a:gd name="connsiteY4" fmla="*/ 0 h 6858000"/>
              <a:gd name="connsiteX0" fmla="*/ 1840375 w 6578801"/>
              <a:gd name="connsiteY0" fmla="*/ 0 h 6869575"/>
              <a:gd name="connsiteX1" fmla="*/ 6578801 w 6578801"/>
              <a:gd name="connsiteY1" fmla="*/ 0 h 6869575"/>
              <a:gd name="connsiteX2" fmla="*/ 6578801 w 6578801"/>
              <a:gd name="connsiteY2" fmla="*/ 6858000 h 6869575"/>
              <a:gd name="connsiteX3" fmla="*/ 0 w 6578801"/>
              <a:gd name="connsiteY3" fmla="*/ 6869575 h 6869575"/>
              <a:gd name="connsiteX4" fmla="*/ 1840375 w 6578801"/>
              <a:gd name="connsiteY4" fmla="*/ 0 h 6869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8801" h="6869575">
                <a:moveTo>
                  <a:pt x="1840375" y="0"/>
                </a:moveTo>
                <a:lnTo>
                  <a:pt x="6578801" y="0"/>
                </a:lnTo>
                <a:lnTo>
                  <a:pt x="6578801" y="6858000"/>
                </a:lnTo>
                <a:lnTo>
                  <a:pt x="0" y="6869575"/>
                </a:lnTo>
                <a:lnTo>
                  <a:pt x="1840375" y="0"/>
                </a:lnTo>
                <a:close/>
              </a:path>
            </a:pathLst>
          </a:custGeom>
        </p:spPr>
        <p:txBody>
          <a:bodyPr tIns="274320" rIns="274320">
            <a:normAutofit/>
          </a:bodyPr>
          <a:lstStyle>
            <a:lvl1pPr marL="0" indent="0" algn="r">
              <a:buNone/>
              <a:defRPr sz="2000"/>
            </a:lvl1pPr>
          </a:lstStyle>
          <a:p>
            <a:r>
              <a:rPr lang="en-US"/>
              <a:t>Click icon to add picture</a:t>
            </a:r>
            <a:endParaRPr lang="en-US" dirty="0"/>
          </a:p>
        </p:txBody>
      </p:sp>
    </p:spTree>
    <p:extLst>
      <p:ext uri="{BB962C8B-B14F-4D97-AF65-F5344CB8AC3E}">
        <p14:creationId xmlns:p14="http://schemas.microsoft.com/office/powerpoint/2010/main" val="10072401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2">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E1BBEEFE-AE8A-8083-54B6-DBE9BC0E9F10}"/>
              </a:ext>
              <a:ext uri="{C183D7F6-B498-43B3-948B-1728B52AA6E4}">
                <adec:decorative xmlns:adec="http://schemas.microsoft.com/office/drawing/2017/decorative" val="1"/>
              </a:ext>
            </a:extLst>
          </p:cNvPr>
          <p:cNvSpPr/>
          <p:nvPr userDrawn="1"/>
        </p:nvSpPr>
        <p:spPr>
          <a:xfrm>
            <a:off x="-42863" y="0"/>
            <a:ext cx="4658392" cy="6858000"/>
          </a:xfrm>
          <a:custGeom>
            <a:avLst/>
            <a:gdLst>
              <a:gd name="connsiteX0" fmla="*/ 0 w 4658392"/>
              <a:gd name="connsiteY0" fmla="*/ 0 h 6858000"/>
              <a:gd name="connsiteX1" fmla="*/ 4658392 w 4658392"/>
              <a:gd name="connsiteY1" fmla="*/ 0 h 6858000"/>
              <a:gd name="connsiteX2" fmla="*/ 2820797 w 4658392"/>
              <a:gd name="connsiteY2" fmla="*/ 6858000 h 6858000"/>
              <a:gd name="connsiteX3" fmla="*/ 0 w 4658392"/>
              <a:gd name="connsiteY3" fmla="*/ 6858000 h 6858000"/>
              <a:gd name="connsiteX4" fmla="*/ 0 w 465839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58392" h="6858000">
                <a:moveTo>
                  <a:pt x="0" y="0"/>
                </a:moveTo>
                <a:lnTo>
                  <a:pt x="4658392" y="0"/>
                </a:lnTo>
                <a:lnTo>
                  <a:pt x="2820797" y="6858000"/>
                </a:lnTo>
                <a:lnTo>
                  <a:pt x="0" y="6858000"/>
                </a:lnTo>
                <a:lnTo>
                  <a:pt x="0" y="0"/>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8" name="Straight Connector 7">
            <a:extLst>
              <a:ext uri="{FF2B5EF4-FFF2-40B4-BE49-F238E27FC236}">
                <a16:creationId xmlns:a16="http://schemas.microsoft.com/office/drawing/2014/main" id="{E64FF31D-04D7-B1F4-53B1-AA4170602E03}"/>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9F040EF-92FF-AEA1-BBA6-A4B739E11945}"/>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CA59A84-C321-FDF9-555F-1FB322EBBC7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509286"/>
            <a:ext cx="3200400" cy="5617193"/>
          </a:xfrm>
        </p:spPr>
        <p:txBody>
          <a:bodyPr>
            <a:noAutofit/>
          </a:body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023412" y="509286"/>
            <a:ext cx="4328932" cy="5617194"/>
          </a:xfrm>
        </p:spPr>
        <p:txBody>
          <a:bodyPr anchor="ctr" anchorCtr="0">
            <a:normAutofit/>
          </a:bodyPr>
          <a:lstStyle>
            <a:lvl1pPr marL="0" indent="0">
              <a:lnSpc>
                <a:spcPct val="150000"/>
              </a:lnSpc>
              <a:spcBef>
                <a:spcPts val="1000"/>
              </a:spcBef>
              <a:buNone/>
              <a:defRPr sz="1800"/>
            </a:lvl1pPr>
            <a:lvl2pPr marL="457200" indent="0">
              <a:lnSpc>
                <a:spcPct val="150000"/>
              </a:lnSpc>
              <a:spcBef>
                <a:spcPts val="1000"/>
              </a:spcBef>
              <a:buNone/>
              <a:defRPr sz="1600"/>
            </a:lvl2pPr>
            <a:lvl3pPr marL="914400" indent="0">
              <a:lnSpc>
                <a:spcPct val="150000"/>
              </a:lnSpc>
              <a:spcBef>
                <a:spcPts val="1000"/>
              </a:spcBef>
              <a:buNone/>
              <a:defRPr sz="1400"/>
            </a:lvl3pPr>
            <a:lvl4pPr marL="1371600" indent="0">
              <a:lnSpc>
                <a:spcPct val="150000"/>
              </a:lnSpc>
              <a:spcBef>
                <a:spcPts val="1000"/>
              </a:spcBef>
              <a:buNone/>
              <a:defRPr sz="1200"/>
            </a:lvl4pPr>
            <a:lvl5pPr marL="1828800" indent="0">
              <a:lnSpc>
                <a:spcPct val="150000"/>
              </a:lnSpc>
              <a:spcBef>
                <a:spcPts val="1000"/>
              </a:spcBef>
              <a:buNone/>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13">
            <a:extLst>
              <a:ext uri="{FF2B5EF4-FFF2-40B4-BE49-F238E27FC236}">
                <a16:creationId xmlns:a16="http://schemas.microsoft.com/office/drawing/2014/main" id="{760CD5A6-A0E4-A658-65B1-0D6C0533166A}"/>
              </a:ext>
            </a:extLst>
          </p:cNvPr>
          <p:cNvSpPr>
            <a:spLocks noGrp="1"/>
          </p:cNvSpPr>
          <p:nvPr>
            <p:ph type="pic" sz="quarter" idx="13"/>
          </p:nvPr>
        </p:nvSpPr>
        <p:spPr>
          <a:xfrm>
            <a:off x="9548813" y="-22860"/>
            <a:ext cx="265176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25005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 pictur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C6EC6AF9-CC07-5258-9160-8C6391530C61}"/>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5BC6DCCE-3025-75FB-9405-8D51DCD63D67}"/>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516CCC3-736F-49AC-F079-9A090DAA816E}"/>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BF578A-ADDB-6713-E5AD-0FF27EDC2E5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1524000" y="743671"/>
            <a:ext cx="9144000" cy="3361254"/>
          </a:xfrm>
        </p:spPr>
        <p:txBody>
          <a:bodyPr anchor="b">
            <a:noAutofit/>
          </a:bodyPr>
          <a:lstStyle>
            <a:lvl1pPr algn="ctr">
              <a:defRPr sz="4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p:nvPr>
        </p:nvSpPr>
        <p:spPr>
          <a:xfrm>
            <a:off x="-7620" y="4766434"/>
            <a:ext cx="12207240" cy="2121408"/>
          </a:xfrm>
        </p:spPr>
        <p:txBody>
          <a:bodyPr>
            <a:noAutofit/>
          </a:bodyPr>
          <a:lstStyle>
            <a:lvl1pPr marL="0" indent="0" algn="ctr">
              <a:buNone/>
              <a:defRPr sz="2000"/>
            </a:lvl1pPr>
          </a:lstStyle>
          <a:p>
            <a:r>
              <a:rPr lang="en-US"/>
              <a:t>Click icon to add picture</a:t>
            </a:r>
            <a:endParaRPr lang="en-US" dirty="0"/>
          </a:p>
        </p:txBody>
      </p:sp>
    </p:spTree>
    <p:extLst>
      <p:ext uri="{BB962C8B-B14F-4D97-AF65-F5344CB8AC3E}">
        <p14:creationId xmlns:p14="http://schemas.microsoft.com/office/powerpoint/2010/main" val="40565285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66CBD635-4863-B127-5668-D2C7DA8CDE92}"/>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629720-DD91-8012-686D-AABA439870ED}"/>
              </a:ext>
              <a:ext uri="{C183D7F6-B498-43B3-948B-1728B52AA6E4}">
                <adec:decorative xmlns:adec="http://schemas.microsoft.com/office/drawing/2017/decorative" val="1"/>
              </a:ext>
            </a:extLst>
          </p:cNvPr>
          <p:cNvCxnSpPr>
            <a:cxnSpLocks/>
          </p:cNvCxnSpPr>
          <p:nvPr userDrawn="1"/>
        </p:nvCxnSpPr>
        <p:spPr>
          <a:xfrm flipH="1">
            <a:off x="10911820" y="0"/>
            <a:ext cx="913577" cy="68580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3970117" y="185195"/>
            <a:ext cx="6930838" cy="1505493"/>
          </a:xfrm>
        </p:spPr>
        <p:txBody>
          <a:bodyPr anchor="b" anchorCtr="0">
            <a:noAutofit/>
          </a:bodyPr>
          <a:lstStyle>
            <a:lvl1pPr>
              <a:defRPr sz="3600"/>
            </a:lvl1pPr>
          </a:lstStyle>
          <a:p>
            <a:r>
              <a:rPr lang="en-US" dirty="0"/>
              <a:t>Click to add title</a:t>
            </a:r>
          </a:p>
        </p:txBody>
      </p:sp>
      <p:sp>
        <p:nvSpPr>
          <p:cNvPr id="12" name="Picture Placeholder 11">
            <a:extLst>
              <a:ext uri="{FF2B5EF4-FFF2-40B4-BE49-F238E27FC236}">
                <a16:creationId xmlns:a16="http://schemas.microsoft.com/office/drawing/2014/main" id="{1FB27827-7491-B1C2-D9C5-975A9FF66EC1}"/>
              </a:ext>
            </a:extLst>
          </p:cNvPr>
          <p:cNvSpPr>
            <a:spLocks noGrp="1"/>
          </p:cNvSpPr>
          <p:nvPr>
            <p:ph type="pic" sz="quarter" idx="10"/>
          </p:nvPr>
        </p:nvSpPr>
        <p:spPr>
          <a:xfrm>
            <a:off x="-18788" y="-22860"/>
            <a:ext cx="3291840" cy="6903720"/>
          </a:xfrm>
        </p:spPr>
        <p:txBody>
          <a:bodyPr lIns="182880" tIns="274320" rIns="182880">
            <a:normAutofit/>
          </a:bodyPr>
          <a:lstStyle>
            <a:lvl1pPr marL="0" indent="0" algn="ctr">
              <a:buNone/>
              <a:defRPr sz="2000"/>
            </a:lvl1pPr>
          </a:lstStyle>
          <a:p>
            <a:r>
              <a:rPr lang="en-US"/>
              <a:t>Click icon to add picture</a:t>
            </a:r>
            <a:endParaRPr lang="en-US" dirty="0"/>
          </a:p>
        </p:txBody>
      </p:sp>
      <p:sp>
        <p:nvSpPr>
          <p:cNvPr id="11" name="Content Placeholder 3">
            <a:extLst>
              <a:ext uri="{FF2B5EF4-FFF2-40B4-BE49-F238E27FC236}">
                <a16:creationId xmlns:a16="http://schemas.microsoft.com/office/drawing/2014/main" id="{7D4D4555-A25D-09B6-36AF-5977189F2DDE}"/>
              </a:ext>
            </a:extLst>
          </p:cNvPr>
          <p:cNvSpPr>
            <a:spLocks noGrp="1"/>
          </p:cNvSpPr>
          <p:nvPr>
            <p:ph sz="half" idx="2" hasCustomPrompt="1"/>
          </p:nvPr>
        </p:nvSpPr>
        <p:spPr>
          <a:xfrm>
            <a:off x="3970116" y="2022395"/>
            <a:ext cx="6941703" cy="4297680"/>
          </a:xfrm>
        </p:spPr>
        <p:txBody>
          <a:bodyPr>
            <a:normAutofit/>
          </a:bodyPr>
          <a:lstStyle>
            <a:lvl1pPr marL="228600" indent="-228600">
              <a:spcBef>
                <a:spcPts val="1000"/>
              </a:spcBef>
              <a:spcAft>
                <a:spcPts val="1500"/>
              </a:spcAft>
              <a:buFont typeface="Arial" panose="020B0604020202020204" pitchFamily="34" charset="0"/>
              <a:buChar char="•"/>
              <a:defRPr sz="1800"/>
            </a:lvl1pPr>
            <a:lvl2pPr>
              <a:spcBef>
                <a:spcPts val="1000"/>
              </a:spcBef>
              <a:spcAft>
                <a:spcPts val="1500"/>
              </a:spcAft>
              <a:defRPr sz="1800"/>
            </a:lvl2pPr>
            <a:lvl3pPr>
              <a:spcBef>
                <a:spcPts val="1000"/>
              </a:spcBef>
              <a:spcAft>
                <a:spcPts val="1500"/>
              </a:spcAft>
              <a:defRPr sz="1800"/>
            </a:lvl3pPr>
            <a:lvl4pPr>
              <a:spcBef>
                <a:spcPts val="1000"/>
              </a:spcBef>
              <a:spcAft>
                <a:spcPts val="1500"/>
              </a:spcAft>
              <a:defRPr sz="1800"/>
            </a:lvl4pPr>
            <a:lvl5pPr>
              <a:spcBef>
                <a:spcPts val="1000"/>
              </a:spcBef>
              <a:spcAft>
                <a:spcPts val="1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923740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9E49FCE-658C-FF5A-6405-3D10F1AC1B06}"/>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903C516-D418-5E3E-1E4E-1DF8464338FE}"/>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D7BF5B15-0E8A-A82C-6E9C-FCF3FBAAD468}"/>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354B33CA-9490-C8E1-FE4F-06367AF2921F}"/>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586824F-3198-FE44-5A4A-70312048DAF9}"/>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058CD71-6E97-B6A9-11B6-867ED408DEE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1E9FDAA6-BDE8-D6C3-17CD-F87BFB54F54A}"/>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42A0738D-E9A9-14B7-4739-62E402B0C2DF}"/>
              </a:ext>
            </a:extLst>
          </p:cNvPr>
          <p:cNvSpPr>
            <a:spLocks noGrp="1"/>
          </p:cNvSpPr>
          <p:nvPr>
            <p:ph sz="half" idx="14" hasCustomPrompt="1"/>
          </p:nvPr>
        </p:nvSpPr>
        <p:spPr>
          <a:xfrm>
            <a:off x="834961" y="2032663"/>
            <a:ext cx="4463005"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A766D4CB-8BCE-C6EE-EF57-A8A819EBD366}"/>
              </a:ext>
            </a:extLst>
          </p:cNvPr>
          <p:cNvSpPr>
            <a:spLocks noGrp="1"/>
          </p:cNvSpPr>
          <p:nvPr>
            <p:ph sz="half" idx="13" hasCustomPrompt="1"/>
          </p:nvPr>
        </p:nvSpPr>
        <p:spPr>
          <a:xfrm>
            <a:off x="6141720" y="2032663"/>
            <a:ext cx="5212080" cy="4067492"/>
          </a:xfrm>
        </p:spPr>
        <p:txBody>
          <a:bodyPr>
            <a:normAutofit/>
          </a:bodyPr>
          <a:lstStyle>
            <a:lvl1pPr marL="0" indent="0">
              <a:spcBef>
                <a:spcPts val="1000"/>
              </a:spcBef>
              <a:spcAft>
                <a:spcPts val="50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8667566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2">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DD9208B-0FD2-A7E3-5202-0F18392AE4F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04010E2-9C6F-C582-1E3A-F5D43D0FFBBC}"/>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B3D2B8AF-94DE-C211-EAE7-0971C111BEAD}"/>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247A2AC-F284-077E-9A14-EB7D1DE6274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0E91F1F-5151-2442-2B89-CE0AB1178507}"/>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BD82AC-3C5B-819E-E0FF-157D74B840BC}"/>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F299648-2E6E-FA0D-85E4-8884BE34A00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7" name="Content Placeholder 3">
            <a:extLst>
              <a:ext uri="{FF2B5EF4-FFF2-40B4-BE49-F238E27FC236}">
                <a16:creationId xmlns:a16="http://schemas.microsoft.com/office/drawing/2014/main" id="{07BD0263-5D42-E696-F170-1F9CF5FF2A74}"/>
              </a:ext>
            </a:extLst>
          </p:cNvPr>
          <p:cNvSpPr>
            <a:spLocks noGrp="1"/>
          </p:cNvSpPr>
          <p:nvPr>
            <p:ph sz="half" idx="15" hasCustomPrompt="1"/>
          </p:nvPr>
        </p:nvSpPr>
        <p:spPr>
          <a:xfrm>
            <a:off x="838199" y="2078963"/>
            <a:ext cx="3435628" cy="4067492"/>
          </a:xfrm>
        </p:spPr>
        <p:txBody>
          <a:bodyPr>
            <a:normAutofit/>
          </a:bodyPr>
          <a:lstStyle>
            <a:lvl1pPr marL="457200" indent="-457200">
              <a:spcBef>
                <a:spcPts val="1000"/>
              </a:spcBef>
              <a:spcAft>
                <a:spcPts val="500"/>
              </a:spcAft>
              <a:buFont typeface="+mj-lt"/>
              <a:buAutoNum type="arabicPeriod"/>
              <a:defRPr sz="1800"/>
            </a:lvl1pPr>
            <a:lvl2pPr marL="914400" indent="-457200">
              <a:spcBef>
                <a:spcPts val="1000"/>
              </a:spcBef>
              <a:spcAft>
                <a:spcPts val="500"/>
              </a:spcAft>
              <a:buFont typeface="+mj-lt"/>
              <a:buAutoNum type="alphaLcPeriod"/>
              <a:defRPr sz="1800"/>
            </a:lvl2pPr>
            <a:lvl3pPr marL="1371600" indent="-457200">
              <a:spcBef>
                <a:spcPts val="1000"/>
              </a:spcBef>
              <a:spcAft>
                <a:spcPts val="500"/>
              </a:spcAft>
              <a:buFont typeface="+mj-lt"/>
              <a:buAutoNum type="arabicParenR"/>
              <a:defRPr sz="1800"/>
            </a:lvl3pPr>
            <a:lvl4pPr marL="1828800" indent="-457200">
              <a:spcBef>
                <a:spcPts val="1000"/>
              </a:spcBef>
              <a:spcAft>
                <a:spcPts val="500"/>
              </a:spcAft>
              <a:buFont typeface="+mj-lt"/>
              <a:buAutoNum type="alphaLcParenR"/>
              <a:defRPr sz="1800"/>
            </a:lvl4pPr>
            <a:lvl5pPr marL="2228850" indent="-457200">
              <a:spcBef>
                <a:spcPts val="1000"/>
              </a:spcBef>
              <a:spcAft>
                <a:spcPts val="500"/>
              </a:spcAft>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3">
            <a:extLst>
              <a:ext uri="{FF2B5EF4-FFF2-40B4-BE49-F238E27FC236}">
                <a16:creationId xmlns:a16="http://schemas.microsoft.com/office/drawing/2014/main" id="{1BEE7174-135F-6F9F-11B9-3C3F2F9CDEAA}"/>
              </a:ext>
            </a:extLst>
          </p:cNvPr>
          <p:cNvSpPr>
            <a:spLocks noGrp="1"/>
          </p:cNvSpPr>
          <p:nvPr>
            <p:ph sz="half" idx="14" hasCustomPrompt="1"/>
          </p:nvPr>
        </p:nvSpPr>
        <p:spPr>
          <a:xfrm>
            <a:off x="4965539" y="2087315"/>
            <a:ext cx="6007261" cy="4067492"/>
          </a:xfrm>
        </p:spPr>
        <p:txBody>
          <a:bodyPr>
            <a:normAutofit/>
          </a:bodyPr>
          <a:lstStyle>
            <a:lvl1pPr marL="0" indent="0">
              <a:spcBef>
                <a:spcPts val="1000"/>
              </a:spcBef>
              <a:spcAft>
                <a:spcPts val="0"/>
              </a:spcAft>
              <a:buNone/>
              <a:defRPr sz="1800"/>
            </a:lvl1pPr>
            <a:lvl2pPr marL="0">
              <a:spcBef>
                <a:spcPts val="1000"/>
              </a:spcBef>
              <a:spcAft>
                <a:spcPts val="500"/>
              </a:spcAft>
              <a:defRPr sz="1800"/>
            </a:lvl2pPr>
            <a:lvl3pPr marL="457200">
              <a:spcBef>
                <a:spcPts val="1000"/>
              </a:spcBef>
              <a:spcAft>
                <a:spcPts val="500"/>
              </a:spcAft>
              <a:defRPr sz="1800"/>
            </a:lvl3pPr>
            <a:lvl4pPr marL="685800">
              <a:spcBef>
                <a:spcPts val="1000"/>
              </a:spcBef>
              <a:spcAft>
                <a:spcPts val="500"/>
              </a:spcAft>
              <a:defRPr sz="1800"/>
            </a:lvl4pPr>
            <a:lvl5pPr marL="914400">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42520464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00B3A65-BB60-F2B4-4CF4-19A7C53F188A}"/>
              </a:ext>
              <a:ext uri="{C183D7F6-B498-43B3-948B-1728B52AA6E4}">
                <adec:decorative xmlns:adec="http://schemas.microsoft.com/office/drawing/2017/decorative" val="1"/>
              </a:ext>
            </a:extLst>
          </p:cNvPr>
          <p:cNvCxnSpPr>
            <a:cxnSpLocks/>
          </p:cNvCxnSpPr>
          <p:nvPr userDrawn="1"/>
        </p:nvCxnSpPr>
        <p:spPr>
          <a:xfrm flipH="1">
            <a:off x="0" y="0"/>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F1DB8D5-B954-BFC9-C8D8-F0491CCBE29B}"/>
              </a:ext>
              <a:ext uri="{C183D7F6-B498-43B3-948B-1728B52AA6E4}">
                <adec:decorative xmlns:adec="http://schemas.microsoft.com/office/drawing/2017/decorative" val="1"/>
              </a:ext>
            </a:extLst>
          </p:cNvPr>
          <p:cNvCxnSpPr>
            <a:cxnSpLocks/>
          </p:cNvCxnSpPr>
          <p:nvPr userDrawn="1"/>
        </p:nvCxnSpPr>
        <p:spPr>
          <a:xfrm flipH="1">
            <a:off x="0" y="0"/>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5507D69F-27D7-2C68-A17D-3F1399C8BE71}"/>
              </a:ext>
              <a:ext uri="{C183D7F6-B498-43B3-948B-1728B52AA6E4}">
                <adec:decorative xmlns:adec="http://schemas.microsoft.com/office/drawing/2017/decorative" val="1"/>
              </a:ext>
            </a:extLst>
          </p:cNvPr>
          <p:cNvCxnSpPr>
            <a:cxnSpLocks/>
          </p:cNvCxnSpPr>
          <p:nvPr userDrawn="1"/>
        </p:nvCxnSpPr>
        <p:spPr>
          <a:xfrm flipH="1" flipV="1">
            <a:off x="-42863" y="5791200"/>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199" y="365125"/>
            <a:ext cx="6645965" cy="1325563"/>
          </a:xfrm>
        </p:spPr>
        <p:txBody>
          <a:bodyPr anchor="b" anchorCtr="0">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1" y="2055813"/>
            <a:ext cx="5781261" cy="4067492"/>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7566991" y="-22860"/>
            <a:ext cx="4625008" cy="6903720"/>
          </a:xfrm>
        </p:spPr>
        <p:txBody>
          <a:bodyPr tIns="274320">
            <a:normAutofit/>
          </a:bodyPr>
          <a:lstStyle>
            <a:lvl1pPr marL="0" indent="0" algn="ctr">
              <a:buNone/>
              <a:defRPr sz="2000"/>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36568680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Content + tabl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C45A11E-9896-BD8B-8CC6-A79C124D89BC}"/>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386022B-53D6-6CE0-2093-873FC64A5D34}"/>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BD4BD8F-684C-A145-3376-9E69B0E5BEE5}"/>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E7C1DA9-2A25-EE21-085B-8857DC1AD722}"/>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F236BB3-E567-A8A9-5EC2-BCEF79CFCF06}"/>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4A87C9F-C765-C63C-951E-70721DDACDC3}"/>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4425665-0C9C-3899-9DB9-ED05D91E26E6}"/>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125"/>
            <a:ext cx="10330405" cy="1325563"/>
          </a:xfrm>
        </p:spPr>
        <p:txBody>
          <a:bodyPr anchor="b" anchorCtr="0">
            <a:noAutofit/>
          </a:bodyPr>
          <a:lstStyle>
            <a:lvl1pPr>
              <a:defRPr sz="36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137059"/>
            <a:ext cx="2816352" cy="3986246"/>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109014" y="2137059"/>
            <a:ext cx="7059592" cy="3986245"/>
          </a:xfrm>
        </p:spPr>
        <p:txBody>
          <a:bodyPr>
            <a:normAutofit/>
          </a:bodyPr>
          <a:lstStyle>
            <a:lvl1pPr marL="0" indent="0" algn="ctr">
              <a:buNone/>
              <a:defRPr lang="en-US" sz="2000" dirty="0"/>
            </a:lvl1p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774227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949C8ABD-000F-7A94-A7B0-9589F4FEFD54}"/>
              </a:ext>
              <a:ext uri="{C183D7F6-B498-43B3-948B-1728B52AA6E4}">
                <adec:decorative xmlns:adec="http://schemas.microsoft.com/office/drawing/2017/decorative" val="1"/>
              </a:ext>
            </a:extLst>
          </p:cNvPr>
          <p:cNvCxnSpPr>
            <a:cxnSpLocks/>
          </p:cNvCxnSpPr>
          <p:nvPr userDrawn="1"/>
        </p:nvCxnSpPr>
        <p:spPr>
          <a:xfrm flipH="1">
            <a:off x="0" y="11575"/>
            <a:ext cx="3119718" cy="68580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DC3A554-E5A9-B3CB-913D-45DBFBA79B40}"/>
              </a:ext>
              <a:ext uri="{C183D7F6-B498-43B3-948B-1728B52AA6E4}">
                <adec:decorative xmlns:adec="http://schemas.microsoft.com/office/drawing/2017/decorative" val="1"/>
              </a:ext>
            </a:extLst>
          </p:cNvPr>
          <p:cNvCxnSpPr>
            <a:cxnSpLocks/>
          </p:cNvCxnSpPr>
          <p:nvPr userDrawn="1"/>
        </p:nvCxnSpPr>
        <p:spPr>
          <a:xfrm flipH="1">
            <a:off x="0" y="11575"/>
            <a:ext cx="903768" cy="65436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3A8DF3-F55A-2494-C55D-8FB94BBC6A49}"/>
              </a:ext>
              <a:ext uri="{C183D7F6-B498-43B3-948B-1728B52AA6E4}">
                <adec:decorative xmlns:adec="http://schemas.microsoft.com/office/drawing/2017/decorative" val="1"/>
              </a:ext>
            </a:extLst>
          </p:cNvPr>
          <p:cNvCxnSpPr>
            <a:cxnSpLocks/>
          </p:cNvCxnSpPr>
          <p:nvPr userDrawn="1"/>
        </p:nvCxnSpPr>
        <p:spPr>
          <a:xfrm flipH="1" flipV="1">
            <a:off x="-42863" y="5802775"/>
            <a:ext cx="6286501" cy="1066801"/>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79DC86E-6F8A-B036-5CB2-AA8A79837F35}"/>
              </a:ext>
              <a:ext uri="{C183D7F6-B498-43B3-948B-1728B52AA6E4}">
                <adec:decorative xmlns:adec="http://schemas.microsoft.com/office/drawing/2017/decorative" val="1"/>
              </a:ext>
            </a:extLst>
          </p:cNvPr>
          <p:cNvCxnSpPr>
            <a:cxnSpLocks/>
          </p:cNvCxnSpPr>
          <p:nvPr userDrawn="1"/>
        </p:nvCxnSpPr>
        <p:spPr>
          <a:xfrm flipH="1">
            <a:off x="8462964" y="5859925"/>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B9E0C03-C633-9356-4E28-678BAB7AE02E}"/>
              </a:ext>
              <a:ext uri="{C183D7F6-B498-43B3-948B-1728B52AA6E4}">
                <adec:decorative xmlns:adec="http://schemas.microsoft.com/office/drawing/2017/decorative" val="1"/>
              </a:ext>
            </a:extLst>
          </p:cNvPr>
          <p:cNvCxnSpPr>
            <a:cxnSpLocks/>
          </p:cNvCxnSpPr>
          <p:nvPr userDrawn="1"/>
        </p:nvCxnSpPr>
        <p:spPr>
          <a:xfrm flipH="1">
            <a:off x="11543158" y="1659400"/>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0C8A4F7-6C4C-719B-298F-3B81223D178B}"/>
              </a:ext>
              <a:ext uri="{C183D7F6-B498-43B3-948B-1728B52AA6E4}">
                <adec:decorative xmlns:adec="http://schemas.microsoft.com/office/drawing/2017/decorative" val="1"/>
              </a:ext>
            </a:extLst>
          </p:cNvPr>
          <p:cNvCxnSpPr>
            <a:cxnSpLocks/>
          </p:cNvCxnSpPr>
          <p:nvPr userDrawn="1"/>
        </p:nvCxnSpPr>
        <p:spPr>
          <a:xfrm flipH="1" flipV="1">
            <a:off x="10781554" y="11575"/>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E7E5D8B-D6BC-19AE-C0C9-249A5561700F}"/>
              </a:ext>
              <a:ext uri="{C183D7F6-B498-43B3-948B-1728B52AA6E4}">
                <adec:decorative xmlns:adec="http://schemas.microsoft.com/office/drawing/2017/decorative" val="1"/>
              </a:ext>
            </a:extLst>
          </p:cNvPr>
          <p:cNvCxnSpPr>
            <a:cxnSpLocks/>
          </p:cNvCxnSpPr>
          <p:nvPr userDrawn="1"/>
        </p:nvCxnSpPr>
        <p:spPr>
          <a:xfrm flipH="1" flipV="1">
            <a:off x="6529388" y="6812"/>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b" anchorCtr="0">
            <a:noAutofit/>
          </a:bodyPr>
          <a:lstStyle>
            <a:lvl1pPr>
              <a:defRPr sz="3600"/>
            </a:lvl1pPr>
          </a:lstStyle>
          <a:p>
            <a:r>
              <a:rPr lang="en-US" dirty="0"/>
              <a:t>Click to add title</a:t>
            </a:r>
          </a:p>
        </p:txBody>
      </p:sp>
      <p:sp>
        <p:nvSpPr>
          <p:cNvPr id="15" name="Content Placeholder 3">
            <a:extLst>
              <a:ext uri="{FF2B5EF4-FFF2-40B4-BE49-F238E27FC236}">
                <a16:creationId xmlns:a16="http://schemas.microsoft.com/office/drawing/2014/main" id="{7A6C5266-7ECA-B150-2C0F-8670F43AC82D}"/>
              </a:ext>
            </a:extLst>
          </p:cNvPr>
          <p:cNvSpPr>
            <a:spLocks noGrp="1"/>
          </p:cNvSpPr>
          <p:nvPr>
            <p:ph sz="half" idx="14" hasCustomPrompt="1"/>
          </p:nvPr>
        </p:nvSpPr>
        <p:spPr>
          <a:xfrm>
            <a:off x="838200" y="1987669"/>
            <a:ext cx="6974711" cy="4297679"/>
          </a:xfrm>
        </p:spPr>
        <p:txBody>
          <a:bodyPr>
            <a:normAutofit/>
          </a:bodyPr>
          <a:lstStyle>
            <a:lvl1pPr marL="0" indent="0">
              <a:spcBef>
                <a:spcPts val="1000"/>
              </a:spcBef>
              <a:spcAft>
                <a:spcPts val="0"/>
              </a:spcAft>
              <a:buNone/>
              <a:defRPr sz="1800"/>
            </a:lvl1pPr>
            <a:lvl2pPr>
              <a:spcBef>
                <a:spcPts val="1000"/>
              </a:spcBef>
              <a:spcAft>
                <a:spcPts val="500"/>
              </a:spcAft>
              <a:defRPr sz="1800"/>
            </a:lvl2pPr>
            <a:lvl3pPr>
              <a:spcBef>
                <a:spcPts val="1000"/>
              </a:spcBef>
              <a:spcAft>
                <a:spcPts val="500"/>
              </a:spcAft>
              <a:defRPr sz="1800"/>
            </a:lvl3pPr>
            <a:lvl4pPr>
              <a:spcBef>
                <a:spcPts val="1000"/>
              </a:spcBef>
              <a:spcAft>
                <a:spcPts val="500"/>
              </a:spcAft>
              <a:defRPr sz="1800"/>
            </a:lvl4pPr>
            <a:lvl5pPr>
              <a:spcBef>
                <a:spcPts val="1000"/>
              </a:spcBef>
              <a:spcAft>
                <a:spcPts val="5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17085" y="1987670"/>
            <a:ext cx="3436716" cy="4297680"/>
          </a:xfrm>
        </p:spPr>
        <p:txBody>
          <a:bodyPr>
            <a:normAutofit/>
          </a:bodyPr>
          <a:lstStyle>
            <a:lvl1pPr marL="0" indent="0">
              <a:spcBef>
                <a:spcPts val="1000"/>
              </a:spcBef>
              <a:spcAft>
                <a:spcPts val="500"/>
              </a:spcAft>
              <a:buNone/>
              <a:defRPr sz="1800"/>
            </a:lvl1pPr>
            <a:lvl2pPr>
              <a:spcBef>
                <a:spcPts val="1000"/>
              </a:spcBef>
              <a:spcAft>
                <a:spcPts val="500"/>
              </a:spcAft>
              <a:defRPr sz="1600"/>
            </a:lvl2pPr>
            <a:lvl3pPr>
              <a:spcBef>
                <a:spcPts val="1000"/>
              </a:spcBef>
              <a:spcAft>
                <a:spcPts val="500"/>
              </a:spcAft>
              <a:defRPr sz="1400"/>
            </a:lvl3pPr>
            <a:lvl4pPr>
              <a:spcBef>
                <a:spcPts val="1000"/>
              </a:spcBef>
              <a:spcAft>
                <a:spcPts val="500"/>
              </a:spcAft>
              <a:defRPr sz="1200"/>
            </a:lvl4pPr>
            <a:lvl5pPr>
              <a:spcBef>
                <a:spcPts val="1000"/>
              </a:spcBef>
              <a:spcAft>
                <a:spcPts val="500"/>
              </a:spcAft>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10/19/2025</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5187899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ontent 3">
    <p:bg>
      <p:bgPr>
        <a:solidFill>
          <a:schemeClr val="accent3">
            <a:lumMod val="20000"/>
            <a:lumOff val="80000"/>
          </a:schemeClr>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11843C0D-8C0B-0B3C-7014-7B7217C008E5}"/>
              </a:ext>
              <a:ext uri="{C183D7F6-B498-43B3-948B-1728B52AA6E4}">
                <adec:decorative xmlns:adec="http://schemas.microsoft.com/office/drawing/2017/decorative" val="1"/>
              </a:ext>
            </a:extLst>
          </p:cNvPr>
          <p:cNvCxnSpPr>
            <a:cxnSpLocks/>
          </p:cNvCxnSpPr>
          <p:nvPr userDrawn="1"/>
        </p:nvCxnSpPr>
        <p:spPr>
          <a:xfrm flipH="1">
            <a:off x="8462964" y="5848350"/>
            <a:ext cx="3729036" cy="100965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F7B715CF-E60F-DDAE-369E-BCC2CE4FF958}"/>
              </a:ext>
              <a:ext uri="{C183D7F6-B498-43B3-948B-1728B52AA6E4}">
                <adec:decorative xmlns:adec="http://schemas.microsoft.com/office/drawing/2017/decorative" val="1"/>
              </a:ext>
            </a:extLst>
          </p:cNvPr>
          <p:cNvCxnSpPr>
            <a:cxnSpLocks/>
          </p:cNvCxnSpPr>
          <p:nvPr userDrawn="1"/>
        </p:nvCxnSpPr>
        <p:spPr>
          <a:xfrm flipH="1">
            <a:off x="11543158" y="1647825"/>
            <a:ext cx="648842" cy="52101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2BD8F5F-4228-6BB9-5EA6-553590898242}"/>
              </a:ext>
              <a:ext uri="{C183D7F6-B498-43B3-948B-1728B52AA6E4}">
                <adec:decorative xmlns:adec="http://schemas.microsoft.com/office/drawing/2017/decorative" val="1"/>
              </a:ext>
            </a:extLst>
          </p:cNvPr>
          <p:cNvCxnSpPr>
            <a:cxnSpLocks/>
          </p:cNvCxnSpPr>
          <p:nvPr userDrawn="1"/>
        </p:nvCxnSpPr>
        <p:spPr>
          <a:xfrm flipH="1" flipV="1">
            <a:off x="10781554" y="0"/>
            <a:ext cx="1410446" cy="4258340"/>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F721F95-97C0-7151-B9F6-C088CEA1A7F8}"/>
              </a:ext>
              <a:ext uri="{C183D7F6-B498-43B3-948B-1728B52AA6E4}">
                <adec:decorative xmlns:adec="http://schemas.microsoft.com/office/drawing/2017/decorative" val="1"/>
              </a:ext>
            </a:extLst>
          </p:cNvPr>
          <p:cNvCxnSpPr>
            <a:cxnSpLocks/>
          </p:cNvCxnSpPr>
          <p:nvPr userDrawn="1"/>
        </p:nvCxnSpPr>
        <p:spPr>
          <a:xfrm flipH="1" flipV="1">
            <a:off x="6529388" y="-4763"/>
            <a:ext cx="5662612" cy="931975"/>
          </a:xfrm>
          <a:prstGeom prst="line">
            <a:avLst/>
          </a:prstGeom>
          <a:ln w="12700">
            <a:solidFill>
              <a:schemeClr val="accent3">
                <a:alpha val="70000"/>
              </a:schemeClr>
            </a:solidFill>
          </a:ln>
        </p:spPr>
        <p:style>
          <a:lnRef idx="1">
            <a:schemeClr val="accent1"/>
          </a:lnRef>
          <a:fillRef idx="0">
            <a:schemeClr val="accent1"/>
          </a:fillRef>
          <a:effectRef idx="0">
            <a:schemeClr val="accent1"/>
          </a:effectRef>
          <a:fontRef idx="minor">
            <a:schemeClr val="tx1"/>
          </a:fontRef>
        </p:style>
      </p:cxnSp>
      <p:sp>
        <p:nvSpPr>
          <p:cNvPr id="14" name="Picture Placeholder 13">
            <a:extLst>
              <a:ext uri="{FF2B5EF4-FFF2-40B4-BE49-F238E27FC236}">
                <a16:creationId xmlns:a16="http://schemas.microsoft.com/office/drawing/2014/main" id="{978AD50A-9C6A-454B-0CAD-EAB518440143}"/>
              </a:ext>
            </a:extLst>
          </p:cNvPr>
          <p:cNvSpPr>
            <a:spLocks noGrp="1"/>
          </p:cNvSpPr>
          <p:nvPr>
            <p:ph type="pic" sz="quarter" idx="10"/>
          </p:nvPr>
        </p:nvSpPr>
        <p:spPr>
          <a:xfrm>
            <a:off x="3810" y="0"/>
            <a:ext cx="7816995" cy="6858000"/>
          </a:xfrm>
          <a:custGeom>
            <a:avLst/>
            <a:gdLst>
              <a:gd name="connsiteX0" fmla="*/ 0 w 7813675"/>
              <a:gd name="connsiteY0" fmla="*/ 0 h 6903720"/>
              <a:gd name="connsiteX1" fmla="*/ 7813675 w 7813675"/>
              <a:gd name="connsiteY1" fmla="*/ 0 h 6903720"/>
              <a:gd name="connsiteX2" fmla="*/ 7813675 w 7813675"/>
              <a:gd name="connsiteY2" fmla="*/ 6903720 h 6903720"/>
              <a:gd name="connsiteX3" fmla="*/ 0 w 7813675"/>
              <a:gd name="connsiteY3" fmla="*/ 6903720 h 6903720"/>
              <a:gd name="connsiteX4" fmla="*/ 0 w 7813675"/>
              <a:gd name="connsiteY4" fmla="*/ 0 h 6903720"/>
              <a:gd name="connsiteX0" fmla="*/ 0 w 7813675"/>
              <a:gd name="connsiteY0" fmla="*/ 0 h 6903720"/>
              <a:gd name="connsiteX1" fmla="*/ 7813675 w 7813675"/>
              <a:gd name="connsiteY1" fmla="*/ 0 h 6903720"/>
              <a:gd name="connsiteX2" fmla="*/ 7813675 w 7813675"/>
              <a:gd name="connsiteY2" fmla="*/ 6903720 h 6903720"/>
              <a:gd name="connsiteX3" fmla="*/ 798854 w 7813675"/>
              <a:gd name="connsiteY3" fmla="*/ 6867163 h 6903720"/>
              <a:gd name="connsiteX4" fmla="*/ 0 w 7813675"/>
              <a:gd name="connsiteY4" fmla="*/ 6903720 h 6903720"/>
              <a:gd name="connsiteX5" fmla="*/ 0 w 7813675"/>
              <a:gd name="connsiteY5" fmla="*/ 0 h 6903720"/>
              <a:gd name="connsiteX0" fmla="*/ 0 w 7813675"/>
              <a:gd name="connsiteY0" fmla="*/ 0 h 6907803"/>
              <a:gd name="connsiteX1" fmla="*/ 7813675 w 7813675"/>
              <a:gd name="connsiteY1" fmla="*/ 0 h 6907803"/>
              <a:gd name="connsiteX2" fmla="*/ 7813675 w 7813675"/>
              <a:gd name="connsiteY2" fmla="*/ 6903720 h 6907803"/>
              <a:gd name="connsiteX3" fmla="*/ 809014 w 7813675"/>
              <a:gd name="connsiteY3" fmla="*/ 6907803 h 6907803"/>
              <a:gd name="connsiteX4" fmla="*/ 0 w 7813675"/>
              <a:gd name="connsiteY4" fmla="*/ 6903720 h 6907803"/>
              <a:gd name="connsiteX5" fmla="*/ 0 w 7813675"/>
              <a:gd name="connsiteY5" fmla="*/ 0 h 6907803"/>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8748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809014 w 7813675"/>
              <a:gd name="connsiteY3" fmla="*/ 6898913 h 6903720"/>
              <a:gd name="connsiteX4" fmla="*/ 0 w 7813675"/>
              <a:gd name="connsiteY4" fmla="*/ 6903720 h 6903720"/>
              <a:gd name="connsiteX5" fmla="*/ 0 w 7813675"/>
              <a:gd name="connsiteY5" fmla="*/ 0 h 6903720"/>
              <a:gd name="connsiteX0" fmla="*/ 0 w 7813675"/>
              <a:gd name="connsiteY0" fmla="*/ 0 h 6903720"/>
              <a:gd name="connsiteX1" fmla="*/ 7813675 w 7813675"/>
              <a:gd name="connsiteY1" fmla="*/ 0 h 6903720"/>
              <a:gd name="connsiteX2" fmla="*/ 7813675 w 7813675"/>
              <a:gd name="connsiteY2" fmla="*/ 6903720 h 6903720"/>
              <a:gd name="connsiteX3" fmla="*/ 740434 w 7813675"/>
              <a:gd name="connsiteY3" fmla="*/ 6898913 h 6903720"/>
              <a:gd name="connsiteX4" fmla="*/ 0 w 7813675"/>
              <a:gd name="connsiteY4" fmla="*/ 6903720 h 6903720"/>
              <a:gd name="connsiteX5" fmla="*/ 0 w 7813675"/>
              <a:gd name="connsiteY5" fmla="*/ 0 h 6903720"/>
              <a:gd name="connsiteX0" fmla="*/ 0 w 7813675"/>
              <a:gd name="connsiteY0" fmla="*/ 0 h 6907385"/>
              <a:gd name="connsiteX1" fmla="*/ 7813675 w 7813675"/>
              <a:gd name="connsiteY1" fmla="*/ 0 h 6907385"/>
              <a:gd name="connsiteX2" fmla="*/ 7813675 w 7813675"/>
              <a:gd name="connsiteY2" fmla="*/ 6903720 h 6907385"/>
              <a:gd name="connsiteX3" fmla="*/ 6359380 w 7813675"/>
              <a:gd name="connsiteY3" fmla="*/ 6907385 h 6907385"/>
              <a:gd name="connsiteX4" fmla="*/ 740434 w 7813675"/>
              <a:gd name="connsiteY4" fmla="*/ 6898913 h 6907385"/>
              <a:gd name="connsiteX5" fmla="*/ 0 w 7813675"/>
              <a:gd name="connsiteY5" fmla="*/ 6903720 h 6907385"/>
              <a:gd name="connsiteX6" fmla="*/ 0 w 7813675"/>
              <a:gd name="connsiteY6"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3320 w 7816995"/>
              <a:gd name="connsiteY5" fmla="*/ 690372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7816995 w 7816995"/>
              <a:gd name="connsiteY2" fmla="*/ 690372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 name="connsiteX0" fmla="*/ 3320 w 7816995"/>
              <a:gd name="connsiteY0" fmla="*/ 0 h 6907385"/>
              <a:gd name="connsiteX1" fmla="*/ 7816995 w 7816995"/>
              <a:gd name="connsiteY1" fmla="*/ 0 h 6907385"/>
              <a:gd name="connsiteX2" fmla="*/ 2899555 w 7816995"/>
              <a:gd name="connsiteY2" fmla="*/ 4648200 h 6907385"/>
              <a:gd name="connsiteX3" fmla="*/ 6362700 w 7816995"/>
              <a:gd name="connsiteY3" fmla="*/ 6907385 h 6907385"/>
              <a:gd name="connsiteX4" fmla="*/ 743754 w 7816995"/>
              <a:gd name="connsiteY4" fmla="*/ 6898913 h 6907385"/>
              <a:gd name="connsiteX5" fmla="*/ 2876060 w 7816995"/>
              <a:gd name="connsiteY5" fmla="*/ 4644390 h 6907385"/>
              <a:gd name="connsiteX6" fmla="*/ 0 w 7816995"/>
              <a:gd name="connsiteY6" fmla="*/ 2510645 h 6907385"/>
              <a:gd name="connsiteX7" fmla="*/ 3320 w 7816995"/>
              <a:gd name="connsiteY7" fmla="*/ 0 h 6907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16995" h="6907385">
                <a:moveTo>
                  <a:pt x="3320" y="0"/>
                </a:moveTo>
                <a:lnTo>
                  <a:pt x="7816995" y="0"/>
                </a:lnTo>
                <a:lnTo>
                  <a:pt x="2899555" y="4648200"/>
                </a:lnTo>
                <a:lnTo>
                  <a:pt x="6362700" y="6907385"/>
                </a:lnTo>
                <a:lnTo>
                  <a:pt x="743754" y="6898913"/>
                </a:lnTo>
                <a:lnTo>
                  <a:pt x="2876060" y="4644390"/>
                </a:lnTo>
                <a:cubicBezTo>
                  <a:pt x="1610033" y="3689302"/>
                  <a:pt x="1117437" y="3324763"/>
                  <a:pt x="0" y="2510645"/>
                </a:cubicBezTo>
                <a:cubicBezTo>
                  <a:pt x="1107" y="1673763"/>
                  <a:pt x="2213" y="836882"/>
                  <a:pt x="3320" y="0"/>
                </a:cubicBezTo>
                <a:close/>
              </a:path>
            </a:pathLst>
          </a:custGeom>
          <a:solidFill>
            <a:schemeClr val="tx2"/>
          </a:solidFill>
          <a:ln w="22225">
            <a:noFill/>
          </a:ln>
        </p:spPr>
        <p:txBody>
          <a:bodyPr lIns="274320" tIns="274320">
            <a:normAutofit/>
          </a:bodyPr>
          <a:lstStyle>
            <a:lvl1pPr marL="0" indent="0">
              <a:buNone/>
              <a:defRPr sz="2000"/>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6080992" y="731562"/>
            <a:ext cx="4902843" cy="3526778"/>
          </a:xfrm>
          <a:noFill/>
        </p:spPr>
        <p:txBody>
          <a:bodyPr anchor="b">
            <a:noAutofit/>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080992" y="4373217"/>
            <a:ext cx="4902843" cy="1753221"/>
          </a:xfrm>
        </p:spPr>
        <p:txBody>
          <a:bodyPr anchor="t" anchorCtr="0">
            <a:normAutofit/>
          </a:bodyPr>
          <a:lstStyle>
            <a:lvl1pPr marL="0" indent="0">
              <a:spcBef>
                <a:spcPts val="1000"/>
              </a:spcBef>
              <a:buNone/>
              <a:defRPr sz="1800">
                <a:solidFill>
                  <a:schemeClr val="tx1"/>
                </a:solidFill>
              </a:defRPr>
            </a:lvl1pPr>
            <a:lvl2pPr>
              <a:spcBef>
                <a:spcPts val="1000"/>
              </a:spcBef>
              <a:defRPr sz="1600">
                <a:solidFill>
                  <a:schemeClr val="tx1"/>
                </a:solidFill>
              </a:defRPr>
            </a:lvl2pPr>
            <a:lvl3pPr>
              <a:spcBef>
                <a:spcPts val="1000"/>
              </a:spcBef>
              <a:defRPr sz="1400">
                <a:solidFill>
                  <a:schemeClr val="tx1"/>
                </a:solidFill>
              </a:defRPr>
            </a:lvl3pPr>
            <a:lvl4pPr>
              <a:spcBef>
                <a:spcPts val="1000"/>
              </a:spcBef>
              <a:defRPr sz="1200">
                <a:solidFill>
                  <a:schemeClr val="tx1"/>
                </a:solidFill>
              </a:defRPr>
            </a:lvl4pPr>
            <a:lvl5pPr>
              <a:spcBef>
                <a:spcPts val="1000"/>
              </a:spcBef>
              <a:defRPr sz="1200">
                <a:solidFill>
                  <a:schemeClr val="tx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25396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4436E0F2-A64B-471E-93C0-8DFE08CC57C8}"/>
              </a:ext>
            </a:extLst>
          </p:cNvPr>
          <p:cNvCxnSpPr>
            <a:cxnSpLocks/>
          </p:cNvCxnSpPr>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C1E3AB1-2A8C-4607-9FAE-D8BDB280FE1A}"/>
              </a:ext>
            </a:extLst>
          </p:cNvPr>
          <p:cNvCxnSpPr>
            <a:cxnSpLocks/>
          </p:cNvCxnSpPr>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6D66059-832F-40B6-A35F-F56C8F38A1E7}"/>
              </a:ext>
            </a:extLst>
          </p:cNvPr>
          <p:cNvCxnSpPr>
            <a:cxnSpLocks/>
          </p:cNvCxnSpPr>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515E2ED-7EA9-448D-83FA-54C3DF9723BD}"/>
              </a:ext>
            </a:extLst>
          </p:cNvPr>
          <p:cNvCxnSpPr>
            <a:cxnSpLocks/>
          </p:cNvCxnSpPr>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0595356-EABD-4767-AC9D-EA21FF115EC0}"/>
              </a:ext>
            </a:extLst>
          </p:cNvPr>
          <p:cNvCxnSpPr>
            <a:cxnSpLocks/>
          </p:cNvCxnSpPr>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CD9F06-9628-469C-B788-A894E3E08281}"/>
              </a:ext>
            </a:extLst>
          </p:cNvPr>
          <p:cNvCxnSpPr>
            <a:cxnSpLocks/>
          </p:cNvCxnSpPr>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550A431-0B61-421B-B4B7-24C0CFF0F938}"/>
              </a:ext>
            </a:extLst>
          </p:cNvPr>
          <p:cNvCxnSpPr>
            <a:cxnSpLocks/>
          </p:cNvCxnSpPr>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675B94C5-D205-4339-B029-5D0FD2E5F3DB}"/>
              </a:ext>
            </a:extLst>
          </p:cNvPr>
          <p:cNvSpPr>
            <a:spLocks noGrp="1"/>
          </p:cNvSpPr>
          <p:nvPr>
            <p:ph type="title"/>
          </p:nvPr>
        </p:nvSpPr>
        <p:spPr>
          <a:xfrm>
            <a:off x="1143000" y="533401"/>
            <a:ext cx="9906000" cy="138215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096DC5C-BD34-4CE4-8AA7-A6A4B9516F8F}"/>
              </a:ext>
            </a:extLst>
          </p:cNvPr>
          <p:cNvSpPr>
            <a:spLocks noGrp="1"/>
          </p:cNvSpPr>
          <p:nvPr>
            <p:ph type="body" idx="1"/>
          </p:nvPr>
        </p:nvSpPr>
        <p:spPr>
          <a:xfrm>
            <a:off x="1143000" y="2009554"/>
            <a:ext cx="9906000" cy="40244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1F192A7-D622-449D-9FC2-48FDE4D690F1}"/>
              </a:ext>
            </a:extLst>
          </p:cNvPr>
          <p:cNvSpPr>
            <a:spLocks noGrp="1"/>
          </p:cNvSpPr>
          <p:nvPr>
            <p:ph type="dt" sz="half" idx="2"/>
          </p:nvPr>
        </p:nvSpPr>
        <p:spPr>
          <a:xfrm>
            <a:off x="7337102" y="6398878"/>
            <a:ext cx="4193908"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D6D8061D-18C3-4F4F-85EF-561633F58754}" type="datetimeFigureOut">
              <a:rPr lang="en-US" smtClean="0"/>
              <a:t>10/19/2025</a:t>
            </a:fld>
            <a:endParaRPr lang="en-US"/>
          </a:p>
        </p:txBody>
      </p:sp>
      <p:sp>
        <p:nvSpPr>
          <p:cNvPr id="5" name="Footer Placeholder 4">
            <a:extLst>
              <a:ext uri="{FF2B5EF4-FFF2-40B4-BE49-F238E27FC236}">
                <a16:creationId xmlns:a16="http://schemas.microsoft.com/office/drawing/2014/main" id="{8435B93C-2BE9-4847-BFE5-D3CBCC6E948C}"/>
              </a:ext>
            </a:extLst>
          </p:cNvPr>
          <p:cNvSpPr>
            <a:spLocks noGrp="1"/>
          </p:cNvSpPr>
          <p:nvPr>
            <p:ph type="ftr" sz="quarter" idx="3"/>
          </p:nvPr>
        </p:nvSpPr>
        <p:spPr>
          <a:xfrm>
            <a:off x="154429" y="6398878"/>
            <a:ext cx="4497315" cy="365125"/>
          </a:xfrm>
          <a:prstGeom prst="rect">
            <a:avLst/>
          </a:prstGeom>
        </p:spPr>
        <p:txBody>
          <a:bodyPr vert="horz" lIns="91440" tIns="45720" rIns="91440" bIns="45720" rtlCol="0" anchor="ctr">
            <a:normAutofit/>
          </a:bodyPr>
          <a:lstStyle>
            <a:lvl1pPr algn="l">
              <a:defRPr sz="1200" b="1" spc="30" baseline="0">
                <a:solidFill>
                  <a:schemeClr val="tx2"/>
                </a:solidFill>
                <a:latin typeface="+mj-lt"/>
              </a:defRPr>
            </a:lvl1pPr>
          </a:lstStyle>
          <a:p>
            <a:endParaRPr lang="en-US"/>
          </a:p>
        </p:txBody>
      </p:sp>
      <p:sp>
        <p:nvSpPr>
          <p:cNvPr id="6" name="Slide Number Placeholder 5">
            <a:extLst>
              <a:ext uri="{FF2B5EF4-FFF2-40B4-BE49-F238E27FC236}">
                <a16:creationId xmlns:a16="http://schemas.microsoft.com/office/drawing/2014/main" id="{ADF70A99-395E-4F22-8AAB-6C7EE743D7D5}"/>
              </a:ext>
            </a:extLst>
          </p:cNvPr>
          <p:cNvSpPr>
            <a:spLocks noGrp="1"/>
          </p:cNvSpPr>
          <p:nvPr>
            <p:ph type="sldNum" sz="quarter" idx="4"/>
          </p:nvPr>
        </p:nvSpPr>
        <p:spPr>
          <a:xfrm>
            <a:off x="11602477" y="6398878"/>
            <a:ext cx="470887" cy="365125"/>
          </a:xfrm>
          <a:prstGeom prst="rect">
            <a:avLst/>
          </a:prstGeom>
        </p:spPr>
        <p:txBody>
          <a:bodyPr vert="horz" lIns="91440" tIns="45720" rIns="91440" bIns="45720" rtlCol="0" anchor="ctr">
            <a:normAutofit/>
          </a:bodyPr>
          <a:lstStyle>
            <a:lvl1pPr algn="r">
              <a:defRPr sz="1100">
                <a:solidFill>
                  <a:schemeClr val="tx2"/>
                </a:solidFill>
                <a:latin typeface="+mn-lt"/>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556065105"/>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 id="2147483681" r:id="rId14"/>
    <p:sldLayoutId id="2147483683" r:id="rId15"/>
    <p:sldLayoutId id="2147483685" r:id="rId16"/>
    <p:sldLayoutId id="2147483686" r:id="rId17"/>
    <p:sldLayoutId id="2147483687" r:id="rId18"/>
    <p:sldLayoutId id="2147483688" r:id="rId19"/>
    <p:sldLayoutId id="2147483689" r:id="rId20"/>
    <p:sldLayoutId id="2147483691" r:id="rId21"/>
  </p:sldLayoutIdLst>
  <p:txStyles>
    <p:titleStyle>
      <a:lvl1pPr algn="l" defTabSz="914400" rtl="0" eaLnBrk="1" latinLnBrk="0" hangingPunct="1">
        <a:lnSpc>
          <a:spcPct val="90000"/>
        </a:lnSpc>
        <a:spcBef>
          <a:spcPct val="0"/>
        </a:spcBef>
        <a:buNone/>
        <a:defRPr sz="4400" i="1" kern="1200" cap="all" baseline="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80000"/>
        <a:buFont typeface="Arial" panose="020B0604020202020204" pitchFamily="34" charset="0"/>
        <a:buChar char="•"/>
        <a:defRPr sz="24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SzPct val="80000"/>
        <a:buFont typeface="Arial" panose="020B0604020202020204" pitchFamily="34" charset="0"/>
        <a:buChar char="•"/>
        <a:defRPr sz="20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SzPct val="80000"/>
        <a:buFont typeface="Arial" panose="020B0604020202020204" pitchFamily="34" charset="0"/>
        <a:buChar char="•"/>
        <a:defRPr sz="18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SzPct val="80000"/>
        <a:buFont typeface="Arial" panose="020B0604020202020204" pitchFamily="34" charset="0"/>
        <a:buChar char="•"/>
        <a:defRPr sz="16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336">
          <p15:clr>
            <a:srgbClr val="F26B43"/>
          </p15:clr>
        </p15:guide>
        <p15:guide id="4" orient="horz" pos="3984">
          <p15:clr>
            <a:srgbClr val="F26B43"/>
          </p15:clr>
        </p15:guide>
        <p15:guide id="5" pos="336">
          <p15:clr>
            <a:srgbClr val="F26B43"/>
          </p15:clr>
        </p15:guide>
        <p15:guide id="6" pos="7344">
          <p15:clr>
            <a:srgbClr val="F26B43"/>
          </p15:clr>
        </p15:guide>
        <p15:guide id="7" pos="720">
          <p15:clr>
            <a:srgbClr val="F26B43"/>
          </p15:clr>
        </p15:guide>
        <p15:guide id="8" pos="69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14_30F0CF03.xml"/><Relationship Id="rId2" Type="http://schemas.openxmlformats.org/officeDocument/2006/relationships/notesSlide" Target="../notesSlides/notesSlide3.xml"/><Relationship Id="rId1" Type="http://schemas.openxmlformats.org/officeDocument/2006/relationships/slideLayout" Target="../slideLayouts/slideLayout14.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Looking up view of a city with skyscrapers">
            <a:extLst>
              <a:ext uri="{FF2B5EF4-FFF2-40B4-BE49-F238E27FC236}">
                <a16:creationId xmlns:a16="http://schemas.microsoft.com/office/drawing/2014/main" id="{ED21B7CD-3D69-26B5-8A0B-52A19A6B0A2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72" r="72"/>
          <a:stretch/>
        </p:blipFill>
        <p:spPr/>
      </p:pic>
      <p:pic>
        <p:nvPicPr>
          <p:cNvPr id="2" name="Picture 1">
            <a:extLst>
              <a:ext uri="{FF2B5EF4-FFF2-40B4-BE49-F238E27FC236}">
                <a16:creationId xmlns:a16="http://schemas.microsoft.com/office/drawing/2014/main" id="{7D509187-DAD2-252B-D10E-BF63702C6243}"/>
              </a:ext>
            </a:extLst>
          </p:cNvPr>
          <p:cNvPicPr>
            <a:picLocks noChangeAspect="1"/>
          </p:cNvPicPr>
          <p:nvPr/>
        </p:nvPicPr>
        <p:blipFill>
          <a:blip r:embed="rId4"/>
          <a:stretch>
            <a:fillRect/>
          </a:stretch>
        </p:blipFill>
        <p:spPr>
          <a:xfrm>
            <a:off x="1774386" y="1691489"/>
            <a:ext cx="2969009" cy="3475021"/>
          </a:xfrm>
          <a:prstGeom prst="rect">
            <a:avLst/>
          </a:prstGeom>
        </p:spPr>
      </p:pic>
    </p:spTree>
    <p:extLst>
      <p:ext uri="{BB962C8B-B14F-4D97-AF65-F5344CB8AC3E}">
        <p14:creationId xmlns:p14="http://schemas.microsoft.com/office/powerpoint/2010/main" val="3078994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181D-911C-1343-7267-E35AC86CCA0E}"/>
              </a:ext>
            </a:extLst>
          </p:cNvPr>
          <p:cNvSpPr>
            <a:spLocks noGrp="1"/>
          </p:cNvSpPr>
          <p:nvPr>
            <p:ph type="title"/>
          </p:nvPr>
        </p:nvSpPr>
        <p:spPr>
          <a:noFill/>
        </p:spPr>
        <p:txBody>
          <a:bodyPr>
            <a:noAutofit/>
          </a:bodyPr>
          <a:lstStyle/>
          <a:p>
            <a:r>
              <a:rPr lang="en-US" dirty="0"/>
              <a:t>AGENDA</a:t>
            </a:r>
          </a:p>
        </p:txBody>
      </p:sp>
      <p:sp>
        <p:nvSpPr>
          <p:cNvPr id="3" name="Content Placeholder 2">
            <a:extLst>
              <a:ext uri="{FF2B5EF4-FFF2-40B4-BE49-F238E27FC236}">
                <a16:creationId xmlns:a16="http://schemas.microsoft.com/office/drawing/2014/main" id="{9BEA8735-F1DC-1DE6-0A38-429B2F660F8A}"/>
              </a:ext>
            </a:extLst>
          </p:cNvPr>
          <p:cNvSpPr>
            <a:spLocks noGrp="1"/>
          </p:cNvSpPr>
          <p:nvPr>
            <p:ph idx="1"/>
          </p:nvPr>
        </p:nvSpPr>
        <p:spPr>
          <a:xfrm>
            <a:off x="4251158" y="509285"/>
            <a:ext cx="5297655" cy="5617194"/>
          </a:xfrm>
          <a:noFill/>
        </p:spPr>
        <p:txBody>
          <a:bodyPr anchor="ctr">
            <a:normAutofit/>
          </a:bodyPr>
          <a:lstStyle/>
          <a:p>
            <a:r>
              <a:rPr lang="en-US" sz="2000" dirty="0" err="1"/>
              <a:t>BrainMeld</a:t>
            </a:r>
            <a:r>
              <a:rPr lang="en-US" sz="2000" dirty="0"/>
              <a:t> Security Assessment – Grey Matter LLC</a:t>
            </a:r>
          </a:p>
          <a:p>
            <a:r>
              <a:rPr lang="en-US" sz="2000" dirty="0"/>
              <a:t>Post-</a:t>
            </a:r>
            <a:r>
              <a:rPr lang="en-US" sz="2000" dirty="0" err="1"/>
              <a:t>Aqcuisition</a:t>
            </a:r>
            <a:r>
              <a:rPr lang="en-US" sz="2000" dirty="0"/>
              <a:t> Cybersecurity Overview</a:t>
            </a:r>
          </a:p>
          <a:p>
            <a:endParaRPr lang="en-US" dirty="0"/>
          </a:p>
          <a:p>
            <a:endParaRPr lang="en-US" dirty="0"/>
          </a:p>
          <a:p>
            <a:endParaRPr lang="en-US" dirty="0"/>
          </a:p>
          <a:p>
            <a:endParaRPr lang="en-US" dirty="0"/>
          </a:p>
        </p:txBody>
      </p:sp>
      <p:pic>
        <p:nvPicPr>
          <p:cNvPr id="25" name="Picture Placeholder 6" descr="A city skyline">
            <a:extLst>
              <a:ext uri="{FF2B5EF4-FFF2-40B4-BE49-F238E27FC236}">
                <a16:creationId xmlns:a16="http://schemas.microsoft.com/office/drawing/2014/main" id="{086C9520-C924-5732-CC82-F0C4A533D4E2}"/>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8" r="38"/>
          <a:stretch/>
        </p:blipFill>
        <p:spPr/>
      </p:pic>
      <p:pic>
        <p:nvPicPr>
          <p:cNvPr id="4" name="Picture 3">
            <a:extLst>
              <a:ext uri="{FF2B5EF4-FFF2-40B4-BE49-F238E27FC236}">
                <a16:creationId xmlns:a16="http://schemas.microsoft.com/office/drawing/2014/main" id="{5B04F9A7-C1CE-1280-E619-FC558BB4A76A}"/>
              </a:ext>
            </a:extLst>
          </p:cNvPr>
          <p:cNvPicPr>
            <a:picLocks noChangeAspect="1"/>
          </p:cNvPicPr>
          <p:nvPr/>
        </p:nvPicPr>
        <p:blipFill>
          <a:blip r:embed="rId4"/>
          <a:stretch>
            <a:fillRect/>
          </a:stretch>
        </p:blipFill>
        <p:spPr>
          <a:xfrm>
            <a:off x="5446801" y="2645361"/>
            <a:ext cx="2969009" cy="3481118"/>
          </a:xfrm>
          <a:prstGeom prst="rect">
            <a:avLst/>
          </a:prstGeom>
        </p:spPr>
      </p:pic>
    </p:spTree>
    <p:extLst>
      <p:ext uri="{BB962C8B-B14F-4D97-AF65-F5344CB8AC3E}">
        <p14:creationId xmlns:p14="http://schemas.microsoft.com/office/powerpoint/2010/main" val="1038351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034E89-1952-5288-08A0-70A4A73BE39E}"/>
              </a:ext>
            </a:extLst>
          </p:cNvPr>
          <p:cNvSpPr>
            <a:spLocks noGrp="1"/>
          </p:cNvSpPr>
          <p:nvPr>
            <p:ph type="ctrTitle"/>
          </p:nvPr>
        </p:nvSpPr>
        <p:spPr>
          <a:xfrm>
            <a:off x="1523999" y="1160766"/>
            <a:ext cx="9144000" cy="3361254"/>
          </a:xfrm>
          <a:noFill/>
        </p:spPr>
        <p:txBody>
          <a:bodyPr anchor="b"/>
          <a:lstStyle/>
          <a:p>
            <a:r>
              <a:rPr lang="en-US" sz="3200" dirty="0"/>
              <a:t>Why we conducted the assessment</a:t>
            </a:r>
            <a:br>
              <a:rPr lang="en-US" sz="3200" dirty="0"/>
            </a:br>
            <a:br>
              <a:rPr lang="en-US" sz="3200" dirty="0"/>
            </a:br>
            <a:br>
              <a:rPr lang="en-US" sz="3200" dirty="0"/>
            </a:br>
            <a:br>
              <a:rPr lang="en-US" sz="3200" dirty="0"/>
            </a:br>
            <a:br>
              <a:rPr lang="en-US" sz="3200" dirty="0"/>
            </a:br>
            <a:br>
              <a:rPr lang="en-US" sz="3200" dirty="0"/>
            </a:br>
            <a:endParaRPr lang="en-US" sz="3200" dirty="0"/>
          </a:p>
        </p:txBody>
      </p:sp>
      <p:pic>
        <p:nvPicPr>
          <p:cNvPr id="17" name="Picture Placeholder 16" descr="A city with tall buildings">
            <a:extLst>
              <a:ext uri="{FF2B5EF4-FFF2-40B4-BE49-F238E27FC236}">
                <a16:creationId xmlns:a16="http://schemas.microsoft.com/office/drawing/2014/main" id="{4D6EE8D1-247A-B95F-BD1A-A2D76964CF34}"/>
              </a:ext>
            </a:extLst>
          </p:cNvPr>
          <p:cNvPicPr>
            <a:picLocks noGrp="1" noChangeAspect="1"/>
          </p:cNvPicPr>
          <p:nvPr>
            <p:ph type="pic" sz="quarter" idx="13"/>
          </p:nvPr>
        </p:nvPicPr>
        <p:blipFill>
          <a:blip r:embed="rId4">
            <a:extLst>
              <a:ext uri="{28A0092B-C50C-407E-A947-70E740481C1C}">
                <a14:useLocalDpi xmlns:a14="http://schemas.microsoft.com/office/drawing/2010/main" val="0"/>
              </a:ext>
            </a:extLst>
          </a:blip>
          <a:srcRect l="13" r="13"/>
          <a:stretch/>
        </p:blipFill>
        <p:spPr/>
      </p:pic>
      <p:sp>
        <p:nvSpPr>
          <p:cNvPr id="2" name="TextBox 1">
            <a:extLst>
              <a:ext uri="{FF2B5EF4-FFF2-40B4-BE49-F238E27FC236}">
                <a16:creationId xmlns:a16="http://schemas.microsoft.com/office/drawing/2014/main" id="{0FD659ED-AAD2-B9BB-29FA-791044050669}"/>
              </a:ext>
            </a:extLst>
          </p:cNvPr>
          <p:cNvSpPr txBox="1"/>
          <p:nvPr/>
        </p:nvSpPr>
        <p:spPr>
          <a:xfrm>
            <a:off x="1435768" y="2211957"/>
            <a:ext cx="9320463"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Identify vulnerabilities in </a:t>
            </a:r>
            <a:r>
              <a:rPr lang="en-US" sz="2400" dirty="0" err="1"/>
              <a:t>BrainMeld’s</a:t>
            </a:r>
            <a:r>
              <a:rPr lang="en-US" sz="2400" dirty="0"/>
              <a:t> systems.</a:t>
            </a:r>
          </a:p>
          <a:p>
            <a:pPr marL="285750" indent="-285750">
              <a:buFont typeface="Arial" panose="020B0604020202020204" pitchFamily="34" charset="0"/>
              <a:buChar char="•"/>
            </a:pPr>
            <a:r>
              <a:rPr lang="en-US" sz="2400" dirty="0"/>
              <a:t>Understand potential impacts on Grey Matter operations.</a:t>
            </a:r>
          </a:p>
          <a:p>
            <a:pPr marL="285750" indent="-285750">
              <a:buFont typeface="Arial" panose="020B0604020202020204" pitchFamily="34" charset="0"/>
              <a:buChar char="•"/>
            </a:pPr>
            <a:r>
              <a:rPr lang="en-US" sz="2400" dirty="0"/>
              <a:t>Recommend prioritized actions to reduce risk and strengthen security.</a:t>
            </a:r>
          </a:p>
        </p:txBody>
      </p:sp>
    </p:spTree>
    <p:extLst>
      <p:ext uri="{BB962C8B-B14F-4D97-AF65-F5344CB8AC3E}">
        <p14:creationId xmlns:p14="http://schemas.microsoft.com/office/powerpoint/2010/main" val="821088003"/>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noFill/>
        </p:spPr>
        <p:txBody>
          <a:bodyPr/>
          <a:lstStyle/>
          <a:p>
            <a:r>
              <a:rPr lang="en-US" dirty="0"/>
              <a:t>Outdated Systems &amp; Missing Updates</a:t>
            </a:r>
          </a:p>
        </p:txBody>
      </p:sp>
      <p:pic>
        <p:nvPicPr>
          <p:cNvPr id="24" name="Picture Placeholder 7" descr="Looking up view of tall buildings">
            <a:extLst>
              <a:ext uri="{FF2B5EF4-FFF2-40B4-BE49-F238E27FC236}">
                <a16:creationId xmlns:a16="http://schemas.microsoft.com/office/drawing/2014/main" id="{A672B903-78EE-718A-C122-69D51207883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1" b="61"/>
          <a:stretch/>
        </p:blipFill>
        <p:spPr>
          <a:noFill/>
        </p:spPr>
      </p:pic>
      <p:sp>
        <p:nvSpPr>
          <p:cNvPr id="3" name="Content Placeholder 2">
            <a:extLst>
              <a:ext uri="{FF2B5EF4-FFF2-40B4-BE49-F238E27FC236}">
                <a16:creationId xmlns:a16="http://schemas.microsoft.com/office/drawing/2014/main" id="{A6A33159-D030-2F82-A142-F75940728319}"/>
              </a:ext>
            </a:extLst>
          </p:cNvPr>
          <p:cNvSpPr>
            <a:spLocks noGrp="1"/>
          </p:cNvSpPr>
          <p:nvPr>
            <p:ph sz="half" idx="2"/>
          </p:nvPr>
        </p:nvSpPr>
        <p:spPr>
          <a:noFill/>
        </p:spPr>
        <p:txBody>
          <a:bodyPr vert="horz" lIns="91440" tIns="45720" rIns="91440" bIns="45720" rtlCol="0" anchor="t">
            <a:normAutofit/>
          </a:bodyPr>
          <a:lstStyle/>
          <a:p>
            <a:r>
              <a:rPr lang="en-US" sz="2400" dirty="0"/>
              <a:t>Software and operating systems are out of date.</a:t>
            </a:r>
          </a:p>
          <a:p>
            <a:r>
              <a:rPr lang="en-US" sz="2400" dirty="0"/>
              <a:t>Some hardware is no longer supported.</a:t>
            </a:r>
          </a:p>
          <a:p>
            <a:r>
              <a:rPr lang="en-US" sz="2400" dirty="0"/>
              <a:t>Security patches are missing.</a:t>
            </a:r>
          </a:p>
        </p:txBody>
      </p:sp>
      <p:pic>
        <p:nvPicPr>
          <p:cNvPr id="4" name="Picture 3">
            <a:extLst>
              <a:ext uri="{FF2B5EF4-FFF2-40B4-BE49-F238E27FC236}">
                <a16:creationId xmlns:a16="http://schemas.microsoft.com/office/drawing/2014/main" id="{7E00EA17-850D-67E2-FF68-872CF4E2B44D}"/>
              </a:ext>
            </a:extLst>
          </p:cNvPr>
          <p:cNvPicPr>
            <a:picLocks noChangeAspect="1"/>
          </p:cNvPicPr>
          <p:nvPr/>
        </p:nvPicPr>
        <p:blipFill>
          <a:blip r:embed="rId4"/>
          <a:stretch>
            <a:fillRect/>
          </a:stretch>
        </p:blipFill>
        <p:spPr>
          <a:xfrm>
            <a:off x="6096000" y="4171235"/>
            <a:ext cx="2165684" cy="2165684"/>
          </a:xfrm>
          <a:prstGeom prst="rect">
            <a:avLst/>
          </a:prstGeom>
        </p:spPr>
      </p:pic>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9" name="Straight Connector 38">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53" name="Rectangle 52">
            <a:extLst>
              <a:ext uri="{FF2B5EF4-FFF2-40B4-BE49-F238E27FC236}">
                <a16:creationId xmlns:a16="http://schemas.microsoft.com/office/drawing/2014/main" id="{21FBE127-D2A6-4FA3-A6B9-B8FD1DE4BE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A9874B-BCA9-8420-1595-EDD1865A099A}"/>
              </a:ext>
            </a:extLst>
          </p:cNvPr>
          <p:cNvSpPr>
            <a:spLocks noGrp="1"/>
          </p:cNvSpPr>
          <p:nvPr>
            <p:ph type="title"/>
          </p:nvPr>
        </p:nvSpPr>
        <p:spPr>
          <a:xfrm>
            <a:off x="6757988" y="533400"/>
            <a:ext cx="4496228" cy="1690687"/>
          </a:xfrm>
        </p:spPr>
        <p:txBody>
          <a:bodyPr vert="horz" lIns="91440" tIns="45720" rIns="91440" bIns="45720" rtlCol="0" anchor="ctr">
            <a:normAutofit/>
          </a:bodyPr>
          <a:lstStyle/>
          <a:p>
            <a:r>
              <a:rPr lang="en-US" sz="3700"/>
              <a:t>Weak Internal Controls</a:t>
            </a:r>
          </a:p>
        </p:txBody>
      </p:sp>
      <p:cxnSp>
        <p:nvCxnSpPr>
          <p:cNvPr id="55" name="Straight Connector 54">
            <a:extLst>
              <a:ext uri="{FF2B5EF4-FFF2-40B4-BE49-F238E27FC236}">
                <a16:creationId xmlns:a16="http://schemas.microsoft.com/office/drawing/2014/main" id="{DDD9C044-4B08-47CC-852C-B22B09675A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4948518" cy="132453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033687E-2F83-4E90-B11A-4B998C1540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818708" cy="642738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D292DBC3-1A72-41ED-8432-D0D64FD6314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 y="2743200"/>
            <a:ext cx="4477872" cy="4114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A black and white image of a person with a lock&#10;&#10;AI-generated content may be incorrect.">
            <a:extLst>
              <a:ext uri="{FF2B5EF4-FFF2-40B4-BE49-F238E27FC236}">
                <a16:creationId xmlns:a16="http://schemas.microsoft.com/office/drawing/2014/main" id="{F3B9A6AD-B110-47C8-D856-C14F21E82125}"/>
              </a:ext>
            </a:extLst>
          </p:cNvPr>
          <p:cNvPicPr>
            <a:picLocks noChangeAspect="1"/>
          </p:cNvPicPr>
          <p:nvPr/>
        </p:nvPicPr>
        <p:blipFill>
          <a:blip r:embed="rId3"/>
          <a:stretch>
            <a:fillRect/>
          </a:stretch>
        </p:blipFill>
        <p:spPr>
          <a:xfrm>
            <a:off x="533400" y="647699"/>
            <a:ext cx="5562600" cy="5562600"/>
          </a:xfrm>
          <a:prstGeom prst="rect">
            <a:avLst/>
          </a:prstGeom>
        </p:spPr>
      </p:pic>
      <p:sp>
        <p:nvSpPr>
          <p:cNvPr id="4" name="Content Placeholder 3">
            <a:extLst>
              <a:ext uri="{FF2B5EF4-FFF2-40B4-BE49-F238E27FC236}">
                <a16:creationId xmlns:a16="http://schemas.microsoft.com/office/drawing/2014/main" id="{ACFBB810-3430-2C29-1AA0-9744AA0A1AA3}"/>
              </a:ext>
            </a:extLst>
          </p:cNvPr>
          <p:cNvSpPr>
            <a:spLocks noGrp="1"/>
          </p:cNvSpPr>
          <p:nvPr>
            <p:ph sz="half" idx="14"/>
          </p:nvPr>
        </p:nvSpPr>
        <p:spPr>
          <a:xfrm>
            <a:off x="6681789" y="2290762"/>
            <a:ext cx="4572428" cy="4033837"/>
          </a:xfrm>
        </p:spPr>
        <p:txBody>
          <a:bodyPr vert="horz" lIns="91440" tIns="45720" rIns="91440" bIns="45720" rtlCol="0" anchor="t">
            <a:normAutofit/>
          </a:bodyPr>
          <a:lstStyle/>
          <a:p>
            <a:pPr marL="285750" indent="-228600">
              <a:buFont typeface="Arial" panose="020B0604020202020204" pitchFamily="34" charset="0"/>
              <a:buChar char="•"/>
            </a:pPr>
            <a:r>
              <a:rPr lang="en-US" sz="2400" dirty="0"/>
              <a:t>Passwords are not consistently strong; multi-factor authentication is lacking.</a:t>
            </a:r>
          </a:p>
          <a:p>
            <a:pPr marL="285750" indent="-228600">
              <a:buFont typeface="Arial" panose="020B0604020202020204" pitchFamily="34" charset="0"/>
              <a:buChar char="•"/>
            </a:pPr>
            <a:r>
              <a:rPr lang="en-US" sz="2400" dirty="0"/>
              <a:t>Users have more privileges than necessary.</a:t>
            </a:r>
          </a:p>
          <a:p>
            <a:pPr marL="285750" indent="-228600">
              <a:buFont typeface="Arial" panose="020B0604020202020204" pitchFamily="34" charset="0"/>
              <a:buChar char="•"/>
            </a:pPr>
            <a:r>
              <a:rPr lang="en-US" sz="2400" dirty="0"/>
              <a:t>Employees need additional security awareness training.</a:t>
            </a:r>
          </a:p>
        </p:txBody>
      </p:sp>
      <p:cxnSp>
        <p:nvCxnSpPr>
          <p:cNvPr id="61" name="Straight Connector 60">
            <a:extLst>
              <a:ext uri="{FF2B5EF4-FFF2-40B4-BE49-F238E27FC236}">
                <a16:creationId xmlns:a16="http://schemas.microsoft.com/office/drawing/2014/main" id="{99309E4A-5F81-4CAB-B5DB-AB4EB90C712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602477" y="2548218"/>
            <a:ext cx="589522" cy="4309782"/>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7402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a16="http://schemas.microsoft.com/office/drawing/2014/main" id="{5B8092E2-D77A-4CE6-BB2D-626978445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D02CD835-4B0F-45D6-9B85-B049A1005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3"/>
            <a:ext cx="12192000" cy="20089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4C27C8-165C-5513-DB4B-9D840097C545}"/>
              </a:ext>
            </a:extLst>
          </p:cNvPr>
          <p:cNvSpPr>
            <a:spLocks noGrp="1"/>
          </p:cNvSpPr>
          <p:nvPr>
            <p:ph type="title"/>
          </p:nvPr>
        </p:nvSpPr>
        <p:spPr>
          <a:xfrm>
            <a:off x="1129553" y="511309"/>
            <a:ext cx="9577116" cy="1221957"/>
          </a:xfrm>
        </p:spPr>
        <p:txBody>
          <a:bodyPr vert="horz" lIns="91440" tIns="45720" rIns="91440" bIns="45720" rtlCol="0" anchor="ctr">
            <a:normAutofit/>
          </a:bodyPr>
          <a:lstStyle/>
          <a:p>
            <a:r>
              <a:rPr lang="en-US" sz="4100"/>
              <a:t>Outdated Protocols &amp; Orphaned Accounts</a:t>
            </a:r>
          </a:p>
        </p:txBody>
      </p:sp>
      <p:cxnSp>
        <p:nvCxnSpPr>
          <p:cNvPr id="30" name="Straight Connector 29">
            <a:extLst>
              <a:ext uri="{FF2B5EF4-FFF2-40B4-BE49-F238E27FC236}">
                <a16:creationId xmlns:a16="http://schemas.microsoft.com/office/drawing/2014/main" id="{7971A1EC-5980-40B2-973F-0D3D6630DBE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0049A56-C4C2-4C0F-9F4F-D0E34391D96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478117" y="0"/>
            <a:ext cx="340591" cy="200955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7D02BE56-7EB5-4E62-B6E2-1C49E470A96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0" y="1299548"/>
            <a:ext cx="1769035" cy="69557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ACE640F-7F5A-BDB7-205D-765FA80B6796}"/>
              </a:ext>
            </a:extLst>
          </p:cNvPr>
          <p:cNvSpPr>
            <a:spLocks noGrp="1"/>
          </p:cNvSpPr>
          <p:nvPr>
            <p:ph sz="half" idx="14"/>
          </p:nvPr>
        </p:nvSpPr>
        <p:spPr>
          <a:xfrm>
            <a:off x="1129553" y="2420471"/>
            <a:ext cx="5479065" cy="3884410"/>
          </a:xfrm>
        </p:spPr>
        <p:txBody>
          <a:bodyPr vert="horz" lIns="91440" tIns="45720" rIns="91440" bIns="45720" rtlCol="0" anchor="ctr">
            <a:normAutofit/>
          </a:bodyPr>
          <a:lstStyle/>
          <a:p>
            <a:pPr lvl="1"/>
            <a:r>
              <a:rPr lang="en-US" sz="2400" dirty="0"/>
              <a:t>Internal applications use older TLS protocols (1.0 and 1.1).</a:t>
            </a:r>
          </a:p>
          <a:p>
            <a:pPr lvl="1"/>
            <a:r>
              <a:rPr lang="en-US" sz="2400" dirty="0"/>
              <a:t>Inactive accounts from former employees remain accessible.</a:t>
            </a:r>
          </a:p>
        </p:txBody>
      </p:sp>
      <p:pic>
        <p:nvPicPr>
          <p:cNvPr id="7" name="Picture 6" descr="A group of people with a shield&#10;&#10;AI-generated content may be incorrect.">
            <a:extLst>
              <a:ext uri="{FF2B5EF4-FFF2-40B4-BE49-F238E27FC236}">
                <a16:creationId xmlns:a16="http://schemas.microsoft.com/office/drawing/2014/main" id="{B5EF8771-E8DC-39B9-3601-7F7893DAA0DF}"/>
              </a:ext>
            </a:extLst>
          </p:cNvPr>
          <p:cNvPicPr>
            <a:picLocks noChangeAspect="1"/>
          </p:cNvPicPr>
          <p:nvPr/>
        </p:nvPicPr>
        <p:blipFill>
          <a:blip r:embed="rId3"/>
          <a:srcRect t="113" r="-1" b="1972"/>
          <a:stretch>
            <a:fillRect/>
          </a:stretch>
        </p:blipFill>
        <p:spPr>
          <a:xfrm>
            <a:off x="7225552" y="1995117"/>
            <a:ext cx="4966447" cy="4862884"/>
          </a:xfrm>
          <a:prstGeom prst="rect">
            <a:avLst/>
          </a:prstGeom>
        </p:spPr>
      </p:pic>
      <p:cxnSp>
        <p:nvCxnSpPr>
          <p:cNvPr id="36" name="Straight Connector 35">
            <a:extLst>
              <a:ext uri="{FF2B5EF4-FFF2-40B4-BE49-F238E27FC236}">
                <a16:creationId xmlns:a16="http://schemas.microsoft.com/office/drawing/2014/main" id="{C4595B06-EDA5-4E45-BED4-7891E7E0CD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1150" y="1171094"/>
            <a:ext cx="4860850" cy="82402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D79C9A5D-F572-476A-99A9-700077150BB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8968704" y="0"/>
            <a:ext cx="2147217" cy="199511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59592DA5-68A4-46A6-90EA-F0304FF8EE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94353" y="-14436"/>
            <a:ext cx="239059" cy="2009553"/>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96091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7" name="Rectangle 26">
            <a:extLst>
              <a:ext uri="{FF2B5EF4-FFF2-40B4-BE49-F238E27FC236}">
                <a16:creationId xmlns:a16="http://schemas.microsoft.com/office/drawing/2014/main" id="{15F0A9D0-BB35-4CAB-B92D-E061B9D8E3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a:extLst>
              <a:ext uri="{FF2B5EF4-FFF2-40B4-BE49-F238E27FC236}">
                <a16:creationId xmlns:a16="http://schemas.microsoft.com/office/drawing/2014/main" id="{52F5DE35-776B-4C7D-AF2E-514E68BDD2F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0"/>
            <a:ext cx="698360" cy="57024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A65E4E8-1272-4386-BDFE-0129D7A7E2D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9642143" y="0"/>
            <a:ext cx="2549857" cy="207446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6515F51-DBC6-42B8-9C34-749F69BB656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897737" y="0"/>
            <a:ext cx="1294263" cy="599136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1129553" y="638174"/>
            <a:ext cx="10529048" cy="1476375"/>
          </a:xfrm>
        </p:spPr>
        <p:txBody>
          <a:bodyPr vert="horz" lIns="91440" tIns="45720" rIns="91440" bIns="45720" rtlCol="0" anchor="ctr">
            <a:normAutofit/>
          </a:bodyPr>
          <a:lstStyle/>
          <a:p>
            <a:pPr algn="ctr"/>
            <a:r>
              <a:rPr lang="en-US" sz="4400" dirty="0"/>
              <a:t>Prioritized Steps to Improve Security</a:t>
            </a:r>
          </a:p>
        </p:txBody>
      </p:sp>
      <p:cxnSp>
        <p:nvCxnSpPr>
          <p:cNvPr id="35" name="Straight Connector 34">
            <a:extLst>
              <a:ext uri="{FF2B5EF4-FFF2-40B4-BE49-F238E27FC236}">
                <a16:creationId xmlns:a16="http://schemas.microsoft.com/office/drawing/2014/main" id="{873F5967-4993-405D-A3E6-84DCEFF44C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2403086" cy="103723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215CE58D-2739-522B-7C3A-6A7C985360C0}"/>
              </a:ext>
            </a:extLst>
          </p:cNvPr>
          <p:cNvSpPr>
            <a:spLocks noGrp="1"/>
          </p:cNvSpPr>
          <p:nvPr>
            <p:ph sz="half" idx="1"/>
          </p:nvPr>
        </p:nvSpPr>
        <p:spPr>
          <a:xfrm>
            <a:off x="1129553" y="2114549"/>
            <a:ext cx="6522531" cy="4190331"/>
          </a:xfrm>
        </p:spPr>
        <p:txBody>
          <a:bodyPr vert="horz" lIns="91440" tIns="45720" rIns="91440" bIns="45720" rtlCol="0">
            <a:normAutofit/>
          </a:bodyPr>
          <a:lstStyle/>
          <a:p>
            <a:pPr marL="342900" indent="-228600">
              <a:buFont typeface="Arial" panose="020B0604020202020204" pitchFamily="34" charset="0"/>
              <a:buChar char="•"/>
            </a:pPr>
            <a:r>
              <a:rPr lang="en-US" sz="2400" dirty="0"/>
              <a:t>Step 1: Apply all pending system and software updates.</a:t>
            </a:r>
          </a:p>
          <a:p>
            <a:pPr marL="342900" indent="-228600">
              <a:buFont typeface="Arial" panose="020B0604020202020204" pitchFamily="34" charset="0"/>
              <a:buChar char="•"/>
            </a:pPr>
            <a:r>
              <a:rPr lang="en-US" sz="2400" dirty="0"/>
              <a:t>Step 2: Strengthen access controls and internal policies.</a:t>
            </a:r>
          </a:p>
          <a:p>
            <a:pPr marL="342900" indent="-228600">
              <a:buFont typeface="Arial" panose="020B0604020202020204" pitchFamily="34" charset="0"/>
              <a:buChar char="•"/>
            </a:pPr>
            <a:r>
              <a:rPr lang="en-US" sz="2400" dirty="0"/>
              <a:t>Step 3: Update protocols and remove inactive accounts.</a:t>
            </a:r>
          </a:p>
        </p:txBody>
      </p:sp>
      <p:cxnSp>
        <p:nvCxnSpPr>
          <p:cNvPr id="37" name="Straight Connector 36">
            <a:extLst>
              <a:ext uri="{FF2B5EF4-FFF2-40B4-BE49-F238E27FC236}">
                <a16:creationId xmlns:a16="http://schemas.microsoft.com/office/drawing/2014/main" id="{A3A523CC-BD6C-4A0D-B9DB-1DC2CE1E22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807758" y="5501473"/>
            <a:ext cx="5455709" cy="1356527"/>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white checklist on a clipboard&#10;&#10;AI-generated content may be incorrect.">
            <a:extLst>
              <a:ext uri="{FF2B5EF4-FFF2-40B4-BE49-F238E27FC236}">
                <a16:creationId xmlns:a16="http://schemas.microsoft.com/office/drawing/2014/main" id="{2B8C6A7A-A9BD-C677-35BD-EA72FAE5390F}"/>
              </a:ext>
            </a:extLst>
          </p:cNvPr>
          <p:cNvPicPr>
            <a:picLocks noChangeAspect="1"/>
          </p:cNvPicPr>
          <p:nvPr/>
        </p:nvPicPr>
        <p:blipFill>
          <a:blip r:embed="rId3"/>
          <a:stretch>
            <a:fillRect/>
          </a:stretch>
        </p:blipFill>
        <p:spPr>
          <a:xfrm>
            <a:off x="6548437" y="2827056"/>
            <a:ext cx="5110163" cy="2785038"/>
          </a:xfrm>
          <a:prstGeom prst="rect">
            <a:avLst/>
          </a:prstGeom>
        </p:spPr>
      </p:pic>
    </p:spTree>
    <p:extLst>
      <p:ext uri="{BB962C8B-B14F-4D97-AF65-F5344CB8AC3E}">
        <p14:creationId xmlns:p14="http://schemas.microsoft.com/office/powerpoint/2010/main" val="42599771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F8222250-799A-4AD0-9BD1-BE6EB7A06A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B770432A-C0A6-4D4F-AE2C-705049DAB8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6244921" y="-5976"/>
            <a:ext cx="5947079" cy="6874927"/>
          </a:xfrm>
          <a:custGeom>
            <a:avLst/>
            <a:gdLst>
              <a:gd name="connsiteX0" fmla="*/ 0 w 4584879"/>
              <a:gd name="connsiteY0" fmla="*/ 0 h 6863976"/>
              <a:gd name="connsiteX1" fmla="*/ 4584879 w 4584879"/>
              <a:gd name="connsiteY1" fmla="*/ 0 h 6863976"/>
              <a:gd name="connsiteX2" fmla="*/ 2493114 w 4584879"/>
              <a:gd name="connsiteY2" fmla="*/ 6863976 h 6863976"/>
              <a:gd name="connsiteX3" fmla="*/ 0 w 4584879"/>
              <a:gd name="connsiteY3" fmla="*/ 6863976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571269 w 4584879"/>
              <a:gd name="connsiteY2" fmla="*/ 6853025 h 6863976"/>
              <a:gd name="connsiteX3" fmla="*/ 0 w 4584879"/>
              <a:gd name="connsiteY3" fmla="*/ 6863976 h 6863976"/>
              <a:gd name="connsiteX4" fmla="*/ 0 w 4584879"/>
              <a:gd name="connsiteY4" fmla="*/ 0 h 6863976"/>
              <a:gd name="connsiteX0" fmla="*/ 0 w 4584879"/>
              <a:gd name="connsiteY0" fmla="*/ 0 h 6863976"/>
              <a:gd name="connsiteX1" fmla="*/ 4584879 w 4584879"/>
              <a:gd name="connsiteY1" fmla="*/ 0 h 6863976"/>
              <a:gd name="connsiteX2" fmla="*/ 3677452 w 4584879"/>
              <a:gd name="connsiteY2" fmla="*/ 6853025 h 6863976"/>
              <a:gd name="connsiteX3" fmla="*/ 0 w 4584879"/>
              <a:gd name="connsiteY3" fmla="*/ 6863976 h 6863976"/>
              <a:gd name="connsiteX4" fmla="*/ 0 w 4584879"/>
              <a:gd name="connsiteY4" fmla="*/ 0 h 6863976"/>
              <a:gd name="connsiteX0" fmla="*/ 0 w 4584879"/>
              <a:gd name="connsiteY0" fmla="*/ 0 h 6874927"/>
              <a:gd name="connsiteX1" fmla="*/ 4584879 w 4584879"/>
              <a:gd name="connsiteY1" fmla="*/ 0 h 6874927"/>
              <a:gd name="connsiteX2" fmla="*/ 3693787 w 4584879"/>
              <a:gd name="connsiteY2" fmla="*/ 6874927 h 6874927"/>
              <a:gd name="connsiteX3" fmla="*/ 0 w 4584879"/>
              <a:gd name="connsiteY3" fmla="*/ 6863976 h 6874927"/>
              <a:gd name="connsiteX4" fmla="*/ 0 w 4584879"/>
              <a:gd name="connsiteY4" fmla="*/ 0 h 6874927"/>
              <a:gd name="connsiteX0" fmla="*/ 0 w 4584879"/>
              <a:gd name="connsiteY0" fmla="*/ 0 h 6874927"/>
              <a:gd name="connsiteX1" fmla="*/ 4584879 w 4584879"/>
              <a:gd name="connsiteY1" fmla="*/ 0 h 6874927"/>
              <a:gd name="connsiteX2" fmla="*/ 3842978 w 4584879"/>
              <a:gd name="connsiteY2" fmla="*/ 6874927 h 6874927"/>
              <a:gd name="connsiteX3" fmla="*/ 0 w 4584879"/>
              <a:gd name="connsiteY3" fmla="*/ 6863976 h 6874927"/>
              <a:gd name="connsiteX4" fmla="*/ 0 w 4584879"/>
              <a:gd name="connsiteY4" fmla="*/ 0 h 6874927"/>
              <a:gd name="connsiteX0" fmla="*/ 0 w 4435688"/>
              <a:gd name="connsiteY0" fmla="*/ 0 h 6874927"/>
              <a:gd name="connsiteX1" fmla="*/ 4435688 w 4435688"/>
              <a:gd name="connsiteY1" fmla="*/ 4763 h 6874927"/>
              <a:gd name="connsiteX2" fmla="*/ 3842978 w 4435688"/>
              <a:gd name="connsiteY2" fmla="*/ 6874927 h 6874927"/>
              <a:gd name="connsiteX3" fmla="*/ 0 w 4435688"/>
              <a:gd name="connsiteY3" fmla="*/ 6863976 h 6874927"/>
              <a:gd name="connsiteX4" fmla="*/ 0 w 4435688"/>
              <a:gd name="connsiteY4" fmla="*/ 0 h 68749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5688" h="6874927">
                <a:moveTo>
                  <a:pt x="0" y="0"/>
                </a:moveTo>
                <a:lnTo>
                  <a:pt x="4435688" y="4763"/>
                </a:lnTo>
                <a:lnTo>
                  <a:pt x="3842978" y="6874927"/>
                </a:lnTo>
                <a:lnTo>
                  <a:pt x="0" y="6863976"/>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7218705" y="542926"/>
            <a:ext cx="4439894" cy="1668143"/>
          </a:xfrm>
        </p:spPr>
        <p:txBody>
          <a:bodyPr vert="horz" lIns="91440" tIns="45720" rIns="91440" bIns="45720" rtlCol="0" anchor="ctr">
            <a:normAutofit/>
          </a:bodyPr>
          <a:lstStyle/>
          <a:p>
            <a:r>
              <a:rPr lang="en-US" sz="4400"/>
              <a:t>Why This Matters</a:t>
            </a:r>
          </a:p>
        </p:txBody>
      </p:sp>
      <p:pic>
        <p:nvPicPr>
          <p:cNvPr id="4" name="Picture 3" descr="A colorful meter with a black needle&#10;&#10;AI-generated content may be incorrect.">
            <a:extLst>
              <a:ext uri="{FF2B5EF4-FFF2-40B4-BE49-F238E27FC236}">
                <a16:creationId xmlns:a16="http://schemas.microsoft.com/office/drawing/2014/main" id="{D7BB7C81-A39E-C0E0-AE3D-E03AC6017BE2}"/>
              </a:ext>
            </a:extLst>
          </p:cNvPr>
          <p:cNvPicPr>
            <a:picLocks noChangeAspect="1"/>
          </p:cNvPicPr>
          <p:nvPr/>
        </p:nvPicPr>
        <p:blipFill>
          <a:blip r:embed="rId3"/>
          <a:stretch>
            <a:fillRect/>
          </a:stretch>
        </p:blipFill>
        <p:spPr>
          <a:xfrm>
            <a:off x="533400" y="1459317"/>
            <a:ext cx="5270053" cy="3939365"/>
          </a:xfrm>
          <a:prstGeom prst="rect">
            <a:avLst/>
          </a:prstGeom>
        </p:spPr>
      </p:pic>
      <p:cxnSp>
        <p:nvCxnSpPr>
          <p:cNvPr id="29" name="Straight Connector 28">
            <a:extLst>
              <a:ext uri="{FF2B5EF4-FFF2-40B4-BE49-F238E27FC236}">
                <a16:creationId xmlns:a16="http://schemas.microsoft.com/office/drawing/2014/main" id="{78FBE787-8B1D-40E5-8468-6F665BB5D7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43268" y="0"/>
            <a:ext cx="488370" cy="6880404"/>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6565057" y="2211069"/>
            <a:ext cx="5481664" cy="4113531"/>
          </a:xfrm>
        </p:spPr>
        <p:txBody>
          <a:bodyPr vert="horz" lIns="91440" tIns="45720" rIns="91440" bIns="45720" rtlCol="0">
            <a:normAutofit/>
          </a:bodyPr>
          <a:lstStyle/>
          <a:p>
            <a:pPr marL="342900" indent="-228600">
              <a:buFont typeface="Arial" panose="020B0604020202020204" pitchFamily="34" charset="0"/>
              <a:buChar char="•"/>
            </a:pPr>
            <a:r>
              <a:rPr lang="en-US" sz="2400" dirty="0"/>
              <a:t>Minimizes risk of cyberattacks.</a:t>
            </a:r>
          </a:p>
          <a:p>
            <a:pPr marL="342900" indent="-228600">
              <a:buFont typeface="Arial" panose="020B0604020202020204" pitchFamily="34" charset="0"/>
              <a:buChar char="•"/>
            </a:pPr>
            <a:r>
              <a:rPr lang="en-US" sz="2400" dirty="0"/>
              <a:t>Protects sensitive company and customer data.</a:t>
            </a:r>
          </a:p>
          <a:p>
            <a:pPr marL="342900" indent="-228600">
              <a:buFont typeface="Arial" panose="020B0604020202020204" pitchFamily="34" charset="0"/>
              <a:buChar char="•"/>
            </a:pPr>
            <a:r>
              <a:rPr lang="en-US" sz="2400" dirty="0"/>
              <a:t>Ensures reliable and compliant operations.</a:t>
            </a:r>
          </a:p>
        </p:txBody>
      </p:sp>
    </p:spTree>
    <p:extLst>
      <p:ext uri="{BB962C8B-B14F-4D97-AF65-F5344CB8AC3E}">
        <p14:creationId xmlns:p14="http://schemas.microsoft.com/office/powerpoint/2010/main" val="2737241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4436E0F2-A64B-471E-93C0-8DFE08CC57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3119718" cy="68580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C1E3AB1-2A8C-4607-9FAE-D8BDB280FE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0"/>
            <a:ext cx="903768" cy="65436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6D66059-832F-40B6-A35F-F56C8F38A1E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42863" y="5791200"/>
            <a:ext cx="6286501" cy="1066801"/>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515E2ED-7EA9-448D-83FA-54C3DF9723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462964" y="5848350"/>
            <a:ext cx="3729036" cy="100965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595356-EABD-4767-AC9D-EA21FF115EC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11543158" y="1647825"/>
            <a:ext cx="648842" cy="52101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8CD9F06-9628-469C-B788-A894E3E0828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10781554" y="0"/>
            <a:ext cx="1410446" cy="4258340"/>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550A431-0B61-421B-B4B7-24C0CFF0F93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flipV="1">
            <a:off x="6529388" y="-4763"/>
            <a:ext cx="5662612" cy="931975"/>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sp useBgFill="1">
        <p:nvSpPr>
          <p:cNvPr id="26" name="Rectangle 25">
            <a:extLst>
              <a:ext uri="{FF2B5EF4-FFF2-40B4-BE49-F238E27FC236}">
                <a16:creationId xmlns:a16="http://schemas.microsoft.com/office/drawing/2014/main" id="{22171661-0838-4942-A149-8C1B789266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272717" y="533400"/>
            <a:ext cx="5370847" cy="1671639"/>
          </a:xfrm>
        </p:spPr>
        <p:txBody>
          <a:bodyPr vert="horz" lIns="91440" tIns="45720" rIns="91440" bIns="45720" rtlCol="0" anchor="ctr">
            <a:normAutofit/>
          </a:bodyPr>
          <a:lstStyle/>
          <a:p>
            <a:pPr algn="ctr"/>
            <a:r>
              <a:rPr lang="en-US" sz="3700" dirty="0"/>
              <a:t>Strengthening Grey Matter’s Security</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half" idx="14"/>
          </p:nvPr>
        </p:nvSpPr>
        <p:spPr>
          <a:xfrm>
            <a:off x="272717" y="2205038"/>
            <a:ext cx="6161040" cy="4119561"/>
          </a:xfrm>
        </p:spPr>
        <p:txBody>
          <a:bodyPr vert="horz" lIns="91440" tIns="45720" rIns="91440" bIns="45720" rtlCol="0">
            <a:normAutofit/>
          </a:bodyPr>
          <a:lstStyle/>
          <a:p>
            <a:pPr marL="285750" indent="-228600">
              <a:buFont typeface="Arial" panose="020B0604020202020204" pitchFamily="34" charset="0"/>
              <a:buChar char="•"/>
            </a:pPr>
            <a:r>
              <a:rPr lang="en-US" sz="2400" dirty="0"/>
              <a:t>Immediate system updates are the top priority.</a:t>
            </a:r>
          </a:p>
          <a:p>
            <a:pPr marL="285750" indent="-228600">
              <a:buFont typeface="Arial" panose="020B0604020202020204" pitchFamily="34" charset="0"/>
              <a:buChar char="•"/>
            </a:pPr>
            <a:r>
              <a:rPr lang="en-US" sz="2400" dirty="0"/>
              <a:t>Access controls and policies prevent unauthorized access.</a:t>
            </a:r>
          </a:p>
          <a:p>
            <a:pPr marL="285750" indent="-228600">
              <a:buFont typeface="Arial" panose="020B0604020202020204" pitchFamily="34" charset="0"/>
              <a:buChar char="•"/>
            </a:pPr>
            <a:r>
              <a:rPr lang="en-US" sz="2400" dirty="0"/>
              <a:t>Proper account management ensures long-term security.</a:t>
            </a:r>
          </a:p>
        </p:txBody>
      </p:sp>
      <p:cxnSp>
        <p:nvCxnSpPr>
          <p:cNvPr id="28" name="Straight Connector 27">
            <a:extLst>
              <a:ext uri="{FF2B5EF4-FFF2-40B4-BE49-F238E27FC236}">
                <a16:creationId xmlns:a16="http://schemas.microsoft.com/office/drawing/2014/main" id="{BB04A404-AF1E-4EC9-AF7D-46C68BFCEBB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430398" y="-1"/>
            <a:ext cx="2559923" cy="685799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1874503-FE8B-408C-ABAF-2B72BAC296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9741182" y="0"/>
            <a:ext cx="725518" cy="6857999"/>
          </a:xfrm>
          <a:prstGeom prst="line">
            <a:avLst/>
          </a:prstGeom>
          <a:ln w="12700">
            <a:solidFill>
              <a:schemeClr val="accent2">
                <a:alpha val="70000"/>
              </a:schemeClr>
            </a:solidFill>
          </a:ln>
        </p:spPr>
        <p:style>
          <a:lnRef idx="1">
            <a:schemeClr val="accent1"/>
          </a:lnRef>
          <a:fillRef idx="0">
            <a:schemeClr val="accent1"/>
          </a:fillRef>
          <a:effectRef idx="0">
            <a:schemeClr val="accent1"/>
          </a:effectRef>
          <a:fontRef idx="minor">
            <a:schemeClr val="tx1"/>
          </a:fontRef>
        </p:style>
      </p:cxnSp>
      <p:pic>
        <p:nvPicPr>
          <p:cNvPr id="7" name="Picture 6" descr="A grey and black background with arrows and a brain&#10;&#10;AI-generated content may be incorrect.">
            <a:extLst>
              <a:ext uri="{FF2B5EF4-FFF2-40B4-BE49-F238E27FC236}">
                <a16:creationId xmlns:a16="http://schemas.microsoft.com/office/drawing/2014/main" id="{FE3A4430-8014-21FD-1279-9DC9F8115BCB}"/>
              </a:ext>
            </a:extLst>
          </p:cNvPr>
          <p:cNvPicPr>
            <a:picLocks noChangeAspect="1"/>
          </p:cNvPicPr>
          <p:nvPr/>
        </p:nvPicPr>
        <p:blipFill>
          <a:blip r:embed="rId3"/>
          <a:stretch>
            <a:fillRect/>
          </a:stretch>
        </p:blipFill>
        <p:spPr>
          <a:xfrm>
            <a:off x="6401563" y="533401"/>
            <a:ext cx="4951476" cy="5791199"/>
          </a:xfrm>
          <a:prstGeom prst="rect">
            <a:avLst/>
          </a:prstGeom>
        </p:spPr>
      </p:pic>
    </p:spTree>
    <p:extLst>
      <p:ext uri="{BB962C8B-B14F-4D97-AF65-F5344CB8AC3E}">
        <p14:creationId xmlns:p14="http://schemas.microsoft.com/office/powerpoint/2010/main" val="6437779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Picture Placeholder 5" descr="Close-up of a bridge with wires">
            <a:extLst>
              <a:ext uri="{FF2B5EF4-FFF2-40B4-BE49-F238E27FC236}">
                <a16:creationId xmlns:a16="http://schemas.microsoft.com/office/drawing/2014/main" id="{E461669C-A7BA-D639-22CB-B5FBBE698B38}"/>
              </a:ext>
            </a:extLst>
          </p:cNvPr>
          <p:cNvPicPr>
            <a:picLocks noGrp="1" noChangeAspect="1"/>
          </p:cNvPicPr>
          <p:nvPr>
            <p:ph type="pic" sz="quarter" idx="10"/>
          </p:nvPr>
        </p:nvPicPr>
        <p:blipFill rotWithShape="1">
          <a:blip r:embed="rId3">
            <a:extLst>
              <a:ext uri="{28A0092B-C50C-407E-A947-70E740481C1C}">
                <a14:useLocalDpi xmlns:a14="http://schemas.microsoft.com/office/drawing/2010/main" val="0"/>
              </a:ext>
            </a:extLst>
          </a:blip>
          <a:srcRect l="20" r="20"/>
          <a:stretch/>
        </p:blipFill>
        <p:spPr>
          <a:noFill/>
        </p:spPr>
      </p:pic>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6080991" y="1816055"/>
            <a:ext cx="4902843" cy="829340"/>
          </a:xfrm>
          <a:noFill/>
        </p:spPr>
        <p:txBody>
          <a:bodyPr anchor="b"/>
          <a:lstStyle/>
          <a:p>
            <a:r>
              <a:rPr lang="en-US"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6080991" y="2708229"/>
            <a:ext cx="5340987" cy="1753221"/>
          </a:xfrm>
          <a:noFill/>
        </p:spPr>
        <p:txBody>
          <a:bodyPr anchor="t">
            <a:noAutofit/>
          </a:bodyPr>
          <a:lstStyle/>
          <a:p>
            <a:r>
              <a:rPr lang="en-US" sz="2000" dirty="0"/>
              <a:t>DeLaun Robinson</a:t>
            </a:r>
          </a:p>
          <a:p>
            <a:r>
              <a:rPr lang="en-US" sz="2000" dirty="0"/>
              <a:t>CYB 400 - 13025</a:t>
            </a:r>
          </a:p>
          <a:p>
            <a:r>
              <a:rPr lang="en-US" sz="2000" dirty="0"/>
              <a:t>Professor Thomas </a:t>
            </a:r>
            <a:r>
              <a:rPr lang="en-US" sz="2000" dirty="0" err="1"/>
              <a:t>Wilent</a:t>
            </a:r>
            <a:endParaRPr lang="en-US" sz="2000" dirty="0"/>
          </a:p>
          <a:p>
            <a:r>
              <a:rPr lang="en-US" sz="2000" dirty="0"/>
              <a:t>Project Two Submission </a:t>
            </a:r>
          </a:p>
          <a:p>
            <a:r>
              <a:rPr lang="en-US" sz="2000" dirty="0"/>
              <a:t>October 19, 2025</a:t>
            </a:r>
          </a:p>
        </p:txBody>
      </p:sp>
    </p:spTree>
    <p:extLst>
      <p:ext uri="{BB962C8B-B14F-4D97-AF65-F5344CB8AC3E}">
        <p14:creationId xmlns:p14="http://schemas.microsoft.com/office/powerpoint/2010/main" val="1210802199"/>
      </p:ext>
    </p:extLst>
  </p:cSld>
  <p:clrMapOvr>
    <a:masterClrMapping/>
  </p:clrMapOvr>
</p:sld>
</file>

<file path=ppt/theme/theme1.xml><?xml version="1.0" encoding="utf-8"?>
<a:theme xmlns:a="http://schemas.openxmlformats.org/drawingml/2006/main" name="AngleLinesVTI">
  <a:themeElements>
    <a:clrScheme name="Custom 34">
      <a:dk1>
        <a:sysClr val="windowText" lastClr="000000"/>
      </a:dk1>
      <a:lt1>
        <a:sysClr val="window" lastClr="FFFFFF"/>
      </a:lt1>
      <a:dk2>
        <a:srgbClr val="001E2E"/>
      </a:dk2>
      <a:lt2>
        <a:srgbClr val="F0ECEC"/>
      </a:lt2>
      <a:accent1>
        <a:srgbClr val="155767"/>
      </a:accent1>
      <a:accent2>
        <a:srgbClr val="BA9CA0"/>
      </a:accent2>
      <a:accent3>
        <a:srgbClr val="A57931"/>
      </a:accent3>
      <a:accent4>
        <a:srgbClr val="0E577C"/>
      </a:accent4>
      <a:accent5>
        <a:srgbClr val="CC846E"/>
      </a:accent5>
      <a:accent6>
        <a:srgbClr val="93767A"/>
      </a:accent6>
      <a:hlink>
        <a:srgbClr val="0563C1"/>
      </a:hlink>
      <a:folHlink>
        <a:srgbClr val="954F72"/>
      </a:folHlink>
    </a:clrScheme>
    <a:fontScheme name="Walbaum Light Univers Light">
      <a:majorFont>
        <a:latin typeface="Walbaum Display Light"/>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ngleLinesVTI" id="{BC1FC193-C72F-4761-9899-1105EDF6BAE8}" vid="{64612625-F022-44B7-B9FA-9D26DEDBDC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1C180A77-4928-484F-9529-F716C85D6A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E62E91-3991-445A-ADE0-DB143B39320F}">
  <ds:schemaRefs>
    <ds:schemaRef ds:uri="http://schemas.microsoft.com/sharepoint/v3/contenttype/forms"/>
  </ds:schemaRefs>
</ds:datastoreItem>
</file>

<file path=customXml/itemProps3.xml><?xml version="1.0" encoding="utf-8"?>
<ds:datastoreItem xmlns:ds="http://schemas.openxmlformats.org/officeDocument/2006/customXml" ds:itemID="{3C20BE78-9FDF-401B-B412-3AA10EC5BEA3}">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{22499166-8CC7-4273-A7FD-1341D9D7B500}tf22797433_win32</Template>
  <TotalTime>43</TotalTime>
  <Words>624</Words>
  <Application>Microsoft Office PowerPoint</Application>
  <PresentationFormat>Widescreen</PresentationFormat>
  <Paragraphs>56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Arial</vt:lpstr>
      <vt:lpstr>Calibri</vt:lpstr>
      <vt:lpstr>Univers Condensed Light</vt:lpstr>
      <vt:lpstr>Walbaum Display Light</vt:lpstr>
      <vt:lpstr>AngleLinesVTI</vt:lpstr>
      <vt:lpstr>PowerPoint Presentation</vt:lpstr>
      <vt:lpstr>AGENDA</vt:lpstr>
      <vt:lpstr>Why we conducted the assessment      </vt:lpstr>
      <vt:lpstr>Outdated Systems &amp; Missing Updates</vt:lpstr>
      <vt:lpstr>Weak Internal Controls</vt:lpstr>
      <vt:lpstr>Outdated Protocols &amp; Orphaned Accounts</vt:lpstr>
      <vt:lpstr>Prioritized Steps to Improve Security</vt:lpstr>
      <vt:lpstr>Why This Matters</vt:lpstr>
      <vt:lpstr>Strengthening Grey Matter’s Security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 Rob</dc:creator>
  <cp:lastModifiedBy>D Rob</cp:lastModifiedBy>
  <cp:revision>1</cp:revision>
  <dcterms:created xsi:type="dcterms:W3CDTF">2025-10-20T01:35:44Z</dcterms:created>
  <dcterms:modified xsi:type="dcterms:W3CDTF">2025-10-20T02:19:30Z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